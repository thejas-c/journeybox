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3"/>
  </p:notesMasterIdLst>
  <p:sldIdLst>
    <p:sldId id="256" r:id="rId2"/>
    <p:sldId id="257" r:id="rId3"/>
    <p:sldId id="269" r:id="rId4"/>
    <p:sldId id="274" r:id="rId5"/>
    <p:sldId id="278" r:id="rId6"/>
    <p:sldId id="279" r:id="rId7"/>
    <p:sldId id="280" r:id="rId8"/>
    <p:sldId id="276" r:id="rId9"/>
    <p:sldId id="281" r:id="rId10"/>
    <p:sldId id="282" r:id="rId11"/>
    <p:sldId id="283" r:id="rId12"/>
    <p:sldId id="284" r:id="rId13"/>
    <p:sldId id="285" r:id="rId14"/>
    <p:sldId id="273" r:id="rId15"/>
    <p:sldId id="272" r:id="rId16"/>
    <p:sldId id="271" r:id="rId17"/>
    <p:sldId id="268" r:id="rId18"/>
    <p:sldId id="270" r:id="rId19"/>
    <p:sldId id="265" r:id="rId20"/>
    <p:sldId id="286" r:id="rId21"/>
    <p:sldId id="26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CEC601F7-1234-492B-8A69-CAFB0DEE4ACA}">
          <p14:sldIdLst>
            <p14:sldId id="256"/>
            <p14:sldId id="257"/>
            <p14:sldId id="269"/>
            <p14:sldId id="274"/>
            <p14:sldId id="278"/>
            <p14:sldId id="279"/>
            <p14:sldId id="280"/>
            <p14:sldId id="276"/>
            <p14:sldId id="281"/>
            <p14:sldId id="282"/>
            <p14:sldId id="283"/>
            <p14:sldId id="284"/>
            <p14:sldId id="285"/>
            <p14:sldId id="273"/>
            <p14:sldId id="272"/>
            <p14:sldId id="271"/>
            <p14:sldId id="268"/>
            <p14:sldId id="270"/>
            <p14:sldId id="265"/>
            <p14:sldId id="286"/>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78" d="100"/>
          <a:sy n="78" d="100"/>
        </p:scale>
        <p:origin x="715"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24830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043678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942109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66716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215593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12431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thejas-c/JourneyBox"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IN" sz="2400" dirty="0">
                <a:solidFill>
                  <a:schemeClr val="tx1"/>
                </a:solidFill>
                <a:latin typeface="Cambria" panose="02040503050406030204" pitchFamily="18" charset="0"/>
                <a:ea typeface="Cambria" panose="02040503050406030204" pitchFamily="18" charset="0"/>
              </a:rPr>
              <a:t>JourneyBox – Smart Travel Companion App</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a:spcBef>
                <a:spcPts val="0"/>
              </a:spcBef>
            </a:pPr>
            <a:r>
              <a:rPr lang="en-GB" sz="1800" dirty="0">
                <a:latin typeface="Cambria" panose="02040503050406030204" pitchFamily="18" charset="0"/>
                <a:ea typeface="Cambria" panose="02040503050406030204" pitchFamily="18" charset="0"/>
              </a:rPr>
              <a:t>Batch Number: </a:t>
            </a:r>
            <a:r>
              <a:rPr lang="en-GB" sz="1800" dirty="0">
                <a:solidFill>
                  <a:schemeClr val="tx1"/>
                </a:solidFill>
                <a:latin typeface="Bookman Old Style" panose="02050604050505020204" pitchFamily="18" charset="0"/>
                <a:ea typeface="Cambria" panose="02040503050406030204" pitchFamily="18" charset="0"/>
              </a:rPr>
              <a:t>CSE_164</a:t>
            </a:r>
            <a:endParaRPr sz="1800" dirty="0">
              <a:latin typeface="Cambria" panose="02040503050406030204" pitchFamily="18" charset="0"/>
              <a:ea typeface="Cambria" panose="02040503050406030204" pitchFamily="18" charset="0"/>
            </a:endParaRPr>
          </a:p>
        </p:txBody>
      </p:sp>
      <p:sp>
        <p:nvSpPr>
          <p:cNvPr id="91" name="Google Shape;91;p13"/>
          <p:cNvSpPr txBox="1"/>
          <p:nvPr/>
        </p:nvSpPr>
        <p:spPr>
          <a:xfrm>
            <a:off x="3222582" y="152289"/>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CSE7302-</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University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a:solidFill>
                  <a:srgbClr val="17365D"/>
                </a:solidFill>
                <a:latin typeface="Cambria" panose="02040503050406030204" pitchFamily="18" charset="0"/>
                <a:ea typeface="Cambria" panose="02040503050406030204" pitchFamily="18" charset="0"/>
                <a:cs typeface="Verdana"/>
                <a:sym typeface="Verdana"/>
              </a:rPr>
              <a:t>Review-3</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703743"/>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dirty="0">
                <a:solidFill>
                  <a:schemeClr val="tx1"/>
                </a:solidFill>
                <a:latin typeface="Cambria" panose="02040503050406030204" pitchFamily="18" charset="0"/>
                <a:ea typeface="Cambria" panose="02040503050406030204" pitchFamily="18" charset="0"/>
                <a:cs typeface="Verdana"/>
                <a:sym typeface="Verdana"/>
              </a:rPr>
              <a:t>CSE7302-University Project</a:t>
            </a:r>
            <a:endPar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chemeClr val="tx1"/>
                </a:solidFill>
                <a:latin typeface="Cambria" panose="02040503050406030204" pitchFamily="18" charset="0"/>
                <a:ea typeface="Cambria" panose="02040503050406030204" pitchFamily="18" charset="0"/>
                <a:cs typeface="Verdana"/>
                <a:sym typeface="Verdana"/>
              </a:rPr>
              <a:t>Dr. Blessed Prince</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err="1">
                <a:solidFill>
                  <a:schemeClr val="tx1"/>
                </a:solidFill>
                <a:latin typeface="Cambria" panose="02040503050406030204" pitchFamily="18" charset="0"/>
                <a:ea typeface="Cambria" panose="02040503050406030204" pitchFamily="18" charset="0"/>
                <a:cs typeface="Verdana"/>
                <a:sym typeface="Verdana"/>
              </a:rPr>
              <a:t>Mr.Muthuraju</a:t>
            </a:r>
            <a:r>
              <a:rPr lang="en-US" sz="1800" b="1" dirty="0">
                <a:solidFill>
                  <a:schemeClr val="tx1"/>
                </a:solidFill>
                <a:latin typeface="Cambria" panose="02040503050406030204" pitchFamily="18" charset="0"/>
                <a:ea typeface="Cambria" panose="02040503050406030204" pitchFamily="18" charset="0"/>
                <a:cs typeface="Verdana"/>
                <a:sym typeface="Verdana"/>
              </a:rPr>
              <a:t> V</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2" name="Table 1">
            <a:extLst>
              <a:ext uri="{FF2B5EF4-FFF2-40B4-BE49-F238E27FC236}">
                <a16:creationId xmlns:a16="http://schemas.microsoft.com/office/drawing/2014/main" id="{C9300913-CE83-E6D2-8220-EEF0E6A7D4BE}"/>
              </a:ext>
            </a:extLst>
          </p:cNvPr>
          <p:cNvGraphicFramePr>
            <a:graphicFrameLocks noGrp="1"/>
          </p:cNvGraphicFramePr>
          <p:nvPr>
            <p:extLst>
              <p:ext uri="{D42A27DB-BD31-4B8C-83A1-F6EECF244321}">
                <p14:modId xmlns:p14="http://schemas.microsoft.com/office/powerpoint/2010/main" val="1213287067"/>
              </p:ext>
            </p:extLst>
          </p:nvPr>
        </p:nvGraphicFramePr>
        <p:xfrm>
          <a:off x="744133" y="2631381"/>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3320247729"/>
                    </a:ext>
                  </a:extLst>
                </a:gridCol>
                <a:gridCol w="3333675">
                  <a:extLst>
                    <a:ext uri="{9D8B030D-6E8A-4147-A177-3AD203B41FA5}">
                      <a16:colId xmlns:a16="http://schemas.microsoft.com/office/drawing/2014/main" val="3268712058"/>
                    </a:ext>
                  </a:extLst>
                </a:gridCol>
              </a:tblGrid>
              <a:tr h="293747">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149855435"/>
                  </a:ext>
                </a:extLst>
              </a:tr>
              <a:tr h="293747">
                <a:tc>
                  <a:txBody>
                    <a:bodyPr/>
                    <a:lstStyle/>
                    <a:p>
                      <a:pPr marL="0" marR="0" lvl="0" indent="0" algn="ctr" rtl="0">
                        <a:spcBef>
                          <a:spcPts val="0"/>
                        </a:spcBef>
                        <a:spcAft>
                          <a:spcPts val="0"/>
                        </a:spcAft>
                        <a:buFont typeface="+mj-lt"/>
                        <a:buNone/>
                      </a:pPr>
                      <a:r>
                        <a:rPr lang="en-IN" sz="1800" u="none" strike="noStrike" cap="none" dirty="0"/>
                        <a:t>20221CSE0626</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THEJAS C</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3781393000"/>
                  </a:ext>
                </a:extLst>
              </a:tr>
              <a:tr h="293747">
                <a:tc>
                  <a:txBody>
                    <a:bodyPr/>
                    <a:lstStyle/>
                    <a:p>
                      <a:pPr marL="0" marR="0" lvl="0" indent="0" algn="ctr" rtl="0">
                        <a:spcBef>
                          <a:spcPts val="0"/>
                        </a:spcBef>
                        <a:spcAft>
                          <a:spcPts val="0"/>
                        </a:spcAft>
                        <a:buNone/>
                      </a:pPr>
                      <a:r>
                        <a:rPr lang="en-IN" sz="1800" u="none" strike="noStrike" cap="none" dirty="0"/>
                        <a:t>20221CSE0624</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T M TEJASHWINI</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219961331"/>
                  </a:ext>
                </a:extLst>
              </a:tr>
              <a:tr h="293747">
                <a:tc>
                  <a:txBody>
                    <a:bodyPr/>
                    <a:lstStyle/>
                    <a:p>
                      <a:pPr marL="0" marR="0" lvl="0" indent="0" algn="ctr" rtl="0">
                        <a:spcBef>
                          <a:spcPts val="0"/>
                        </a:spcBef>
                        <a:spcAft>
                          <a:spcPts val="0"/>
                        </a:spcAft>
                        <a:buNone/>
                      </a:pPr>
                      <a:r>
                        <a:rPr lang="en-IN" sz="1800" u="none" strike="noStrike" cap="none" dirty="0"/>
                        <a:t>20221CSE0628</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VINAY K HIREMATH</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400874960"/>
                  </a:ext>
                </a:extLst>
              </a:tr>
              <a:tr h="293747">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864048743"/>
                  </a:ext>
                </a:extLst>
              </a:tr>
              <a:tr h="293747">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2996905173"/>
                  </a:ext>
                </a:extLst>
              </a:tr>
            </a:tbl>
          </a:graphicData>
        </a:graphic>
      </p:graphicFrame>
      <p:sp>
        <p:nvSpPr>
          <p:cNvPr id="4" name="TextBox 3">
            <a:extLst>
              <a:ext uri="{FF2B5EF4-FFF2-40B4-BE49-F238E27FC236}">
                <a16:creationId xmlns:a16="http://schemas.microsoft.com/office/drawing/2014/main" id="{46149209-34A7-B777-D590-E7D62FB7F7E2}"/>
              </a:ext>
            </a:extLst>
          </p:cNvPr>
          <p:cNvSpPr txBox="1"/>
          <p:nvPr/>
        </p:nvSpPr>
        <p:spPr>
          <a:xfrm>
            <a:off x="5893580" y="2321502"/>
            <a:ext cx="6150076" cy="2072362"/>
          </a:xfrm>
          <a:prstGeom prst="rect">
            <a:avLst/>
          </a:prstGeom>
          <a:noFill/>
        </p:spPr>
        <p:txBody>
          <a:bodyPr wrap="square">
            <a:spAutoFit/>
          </a:bodyPr>
          <a:lstStyle/>
          <a:p>
            <a:pPr marL="0" marR="0" lvl="0" indent="0" algn="ctr" rtl="0">
              <a:spcBef>
                <a:spcPts val="0"/>
              </a:spcBef>
              <a:spcAft>
                <a:spcPts val="0"/>
              </a:spcAft>
              <a:buClr>
                <a:srgbClr val="17365D"/>
              </a:buClr>
              <a:buSzPts val="2000"/>
              <a:buFont typeface="Arial"/>
              <a:buNone/>
            </a:pPr>
            <a:r>
              <a:rPr lang="en-US" sz="16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lang="en-US" sz="16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lang="en-US" sz="16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lgn="ctr">
              <a:spcBef>
                <a:spcPts val="340"/>
              </a:spcBef>
              <a:buClr>
                <a:srgbClr val="17365D"/>
              </a:buClr>
              <a:buSzPts val="1700"/>
            </a:pPr>
            <a:r>
              <a:rPr lang="en-US" sz="1600" b="1" dirty="0">
                <a:solidFill>
                  <a:schemeClr val="tx1"/>
                </a:solidFill>
                <a:latin typeface="Cambria" panose="02040503050406030204" pitchFamily="18" charset="0"/>
                <a:ea typeface="Cambria" panose="02040503050406030204" pitchFamily="18" charset="0"/>
                <a:cs typeface="Verdana"/>
                <a:sym typeface="Verdana"/>
              </a:rPr>
              <a:t>Ms.Delsy Jyothi </a:t>
            </a:r>
          </a:p>
          <a:p>
            <a:pPr lvl="0" algn="ctr">
              <a:spcBef>
                <a:spcPts val="340"/>
              </a:spcBef>
              <a:buClr>
                <a:srgbClr val="17365D"/>
              </a:buClr>
              <a:buSzPts val="1700"/>
            </a:pPr>
            <a:r>
              <a:rPr lang="en-GB" sz="1600" b="1" dirty="0">
                <a:solidFill>
                  <a:srgbClr val="17365D"/>
                </a:solidFill>
                <a:latin typeface="Cambria" panose="02040503050406030204" pitchFamily="18" charset="0"/>
                <a:ea typeface="Cambria" panose="02040503050406030204" pitchFamily="18" charset="0"/>
                <a:cs typeface="Verdana"/>
                <a:sym typeface="Verdana"/>
              </a:rPr>
              <a:t>Assistant Professor</a:t>
            </a:r>
            <a:endParaRPr lang="en-GB" sz="1600"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a:buNone/>
            </a:pPr>
            <a:r>
              <a:rPr lang="en-US" sz="1600" b="1" i="0" u="none" strike="noStrike" cap="none" dirty="0">
                <a:solidFill>
                  <a:schemeClr val="tx1"/>
                </a:solidFill>
                <a:latin typeface="Cambria" panose="02040503050406030204" pitchFamily="18" charset="0"/>
                <a:ea typeface="Cambria" panose="02040503050406030204" pitchFamily="18" charset="0"/>
                <a:cs typeface="Verdana"/>
                <a:sym typeface="Verdana"/>
              </a:rPr>
              <a:t>School of Computer Science and Engineering</a:t>
            </a:r>
            <a:endParaRPr lang="en-US" sz="1600" dirty="0">
              <a:solidFill>
                <a:schemeClr val="tx1"/>
              </a:solidFill>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a:buNone/>
            </a:pPr>
            <a:r>
              <a:rPr lang="en-US" sz="1600" b="1" i="0" u="none" strike="noStrike" cap="none" dirty="0">
                <a:solidFill>
                  <a:schemeClr val="tx1"/>
                </a:solidFill>
                <a:latin typeface="Cambria" panose="02040503050406030204" pitchFamily="18" charset="0"/>
                <a:ea typeface="Cambria" panose="02040503050406030204" pitchFamily="18" charset="0"/>
                <a:cs typeface="Verdana"/>
                <a:sym typeface="Verdana"/>
              </a:rPr>
              <a:t>Presidency University</a:t>
            </a:r>
            <a:endParaRPr lang="en-US" sz="1600" dirty="0">
              <a:solidFill>
                <a:schemeClr val="tx1"/>
              </a:solidFill>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lang="en-US" sz="16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75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Bookman Old Style" panose="02050604050505020204" pitchFamily="18" charset="0"/>
                <a:ea typeface="Cambria" panose="02040503050406030204" pitchFamily="18" charset="0"/>
              </a:rPr>
              <a:t>Literature survey</a:t>
            </a:r>
            <a:endParaRPr lang="en-US"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Git-hub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a:t>
            </a:r>
            <a:r>
              <a:rPr lang="en-GB" dirty="0">
                <a:solidFill>
                  <a:schemeClr val="tx1"/>
                </a:solidFill>
                <a:latin typeface="Cambria" panose="02040503050406030204" pitchFamily="18" charset="0"/>
                <a:ea typeface="Cambria" panose="02040503050406030204" pitchFamily="18" charset="0"/>
              </a:rPr>
              <a:t>SIH25082</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a:spcBef>
                <a:spcPts val="0"/>
              </a:spcBef>
              <a:buNone/>
            </a:pPr>
            <a:r>
              <a:rPr lang="en-US" dirty="0">
                <a:latin typeface="Cambria" panose="02040503050406030204" pitchFamily="18" charset="0"/>
                <a:ea typeface="Cambria" panose="02040503050406030204" pitchFamily="18" charset="0"/>
              </a:rPr>
              <a:t>Organization: Government of Kerala</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Category (Hardware / Software / Both) : </a:t>
            </a:r>
            <a:r>
              <a:rPr lang="en-US" dirty="0">
                <a:solidFill>
                  <a:schemeClr val="tx1"/>
                </a:solidFill>
                <a:latin typeface="Cambria" panose="02040503050406030204" pitchFamily="18" charset="0"/>
                <a:ea typeface="Cambria" panose="02040503050406030204" pitchFamily="18" charset="0"/>
              </a:rPr>
              <a:t>Software</a:t>
            </a:r>
            <a:endParaRPr lang="en-US"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Problem Description:</a:t>
            </a:r>
          </a:p>
          <a:p>
            <a:pPr marL="533400" lvl="1" indent="0" algn="just">
              <a:buNone/>
            </a:pPr>
            <a:r>
              <a:rPr lang="en-US" dirty="0">
                <a:latin typeface="Calibri" panose="020F0502020204030204" pitchFamily="34" charset="0"/>
                <a:ea typeface="Calibri" panose="020F0502020204030204" pitchFamily="34" charset="0"/>
                <a:cs typeface="Calibri" panose="020F0502020204030204" pitchFamily="34" charset="0"/>
              </a:rPr>
              <a:t>Travelers often struggle to manage and access trip-related information such as itinerary, booking details, travel documents, expenses, and emergency contacts. This information is usually scattered across messages, emails, screenshots, and different apps, making it difficult to retrieve at the right time.</a:t>
            </a:r>
          </a:p>
          <a:p>
            <a:pPr marL="533400" lvl="1" indent="0" algn="just">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533400" lvl="1" indent="0" algn="just">
              <a:buNone/>
            </a:pPr>
            <a:r>
              <a:rPr lang="en-US" dirty="0">
                <a:latin typeface="Calibri" panose="020F0502020204030204" pitchFamily="34" charset="0"/>
                <a:ea typeface="Calibri" panose="020F0502020204030204" pitchFamily="34" charset="0"/>
                <a:cs typeface="Calibri" panose="020F0502020204030204" pitchFamily="34" charset="0"/>
              </a:rPr>
              <a:t>There is a need for a mobile travel application that can be installed on smartphones to capture, store, and organize trip-related data, provide real-time assistance during the trip (reminders, navigation support, offline access), and improve overall travel convenience, safety, and trip management efficiency.</a:t>
            </a:r>
          </a:p>
          <a:p>
            <a:pPr marL="342900" lvl="0" indent="-190500" algn="just">
              <a:lnSpc>
                <a:spcPct val="200000"/>
              </a:lnSpc>
              <a:spcBef>
                <a:spcPts val="0"/>
              </a:spcBef>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55F22-7106-ADA3-BB88-89261C5F33A2}"/>
              </a:ext>
            </a:extLst>
          </p:cNvPr>
          <p:cNvSpPr>
            <a:spLocks noGrp="1"/>
          </p:cNvSpPr>
          <p:nvPr>
            <p:ph type="title"/>
          </p:nvPr>
        </p:nvSpPr>
        <p:spPr/>
        <p:txBody>
          <a:bodyPr/>
          <a:lstStyle/>
          <a:p>
            <a:r>
              <a:rPr lang="en-US" dirty="0"/>
              <a:t>Objectives</a:t>
            </a:r>
            <a:endParaRPr lang="en-IN" dirty="0"/>
          </a:p>
        </p:txBody>
      </p:sp>
      <p:sp>
        <p:nvSpPr>
          <p:cNvPr id="3" name="Text Placeholder 2">
            <a:extLst>
              <a:ext uri="{FF2B5EF4-FFF2-40B4-BE49-F238E27FC236}">
                <a16:creationId xmlns:a16="http://schemas.microsoft.com/office/drawing/2014/main" id="{DC0752F4-8D75-D8F3-6E5C-E95FBD8A4C55}"/>
              </a:ext>
            </a:extLst>
          </p:cNvPr>
          <p:cNvSpPr>
            <a:spLocks noGrp="1"/>
          </p:cNvSpPr>
          <p:nvPr>
            <p:ph type="body" idx="1"/>
          </p:nvPr>
        </p:nvSpPr>
        <p:spPr/>
        <p:txBody>
          <a:bodyPr>
            <a:normAutofit/>
          </a:bodyPr>
          <a:lstStyle/>
          <a:p>
            <a:r>
              <a:rPr lang="en-US" dirty="0">
                <a:latin typeface="Cambria" panose="02040503050406030204" pitchFamily="18" charset="0"/>
                <a:ea typeface="Cambria" panose="02040503050406030204" pitchFamily="18" charset="0"/>
              </a:rPr>
              <a:t>To develop a mobile application that can capture and store complete trip-related information (itinerary, bookings, documents, notes).</a:t>
            </a:r>
          </a:p>
          <a:p>
            <a:r>
              <a:rPr lang="en-US" dirty="0">
                <a:latin typeface="Cambria" panose="02040503050406030204" pitchFamily="18" charset="0"/>
                <a:ea typeface="Cambria" panose="02040503050406030204" pitchFamily="18" charset="0"/>
              </a:rPr>
              <a:t>To provide organized trip management through a single dashboard for each journey.</a:t>
            </a:r>
          </a:p>
          <a:p>
            <a:r>
              <a:rPr lang="en-US" dirty="0">
                <a:latin typeface="Cambria" panose="02040503050406030204" pitchFamily="18" charset="0"/>
                <a:ea typeface="Cambria" panose="02040503050406030204" pitchFamily="18" charset="0"/>
              </a:rPr>
              <a:t>To assist travelers with reminders and real-time trip support during travel.</a:t>
            </a:r>
          </a:p>
          <a:p>
            <a:r>
              <a:rPr lang="en-US" dirty="0">
                <a:latin typeface="Cambria" panose="02040503050406030204" pitchFamily="18" charset="0"/>
                <a:ea typeface="Cambria" panose="02040503050406030204" pitchFamily="18" charset="0"/>
              </a:rPr>
              <a:t>To enable offline access to important trip details in low-network areas.</a:t>
            </a:r>
          </a:p>
          <a:p>
            <a:r>
              <a:rPr lang="en-US" dirty="0">
                <a:latin typeface="Cambria" panose="02040503050406030204" pitchFamily="18" charset="0"/>
                <a:ea typeface="Cambria" panose="02040503050406030204" pitchFamily="18" charset="0"/>
              </a:rPr>
              <a:t>To help users track trip expenses and budgets for better financial planning.</a:t>
            </a:r>
          </a:p>
          <a:p>
            <a:r>
              <a:rPr lang="en-US" dirty="0">
                <a:latin typeface="Cambria" panose="02040503050406030204" pitchFamily="18" charset="0"/>
                <a:ea typeface="Cambria" panose="02040503050406030204" pitchFamily="18" charset="0"/>
              </a:rPr>
              <a:t>To improve traveler safety by providing emergency contact and SOS support.</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75872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00991-4CB6-F994-F6D9-1E4C36C0AD1E}"/>
              </a:ext>
            </a:extLst>
          </p:cNvPr>
          <p:cNvSpPr>
            <a:spLocks noGrp="1"/>
          </p:cNvSpPr>
          <p:nvPr>
            <p:ph type="title"/>
          </p:nvPr>
        </p:nvSpPr>
        <p:spPr/>
        <p:txBody>
          <a:bodyPr/>
          <a:lstStyle/>
          <a:p>
            <a:r>
              <a:rPr lang="en-IN" dirty="0">
                <a:latin typeface="Cambria" panose="02040503050406030204" pitchFamily="18" charset="0"/>
                <a:ea typeface="Cambria" panose="02040503050406030204" pitchFamily="18" charset="0"/>
              </a:rPr>
              <a:t>Literature Survey (Paper 1)</a:t>
            </a:r>
          </a:p>
        </p:txBody>
      </p:sp>
      <p:sp>
        <p:nvSpPr>
          <p:cNvPr id="3" name="Text Placeholder 2">
            <a:extLst>
              <a:ext uri="{FF2B5EF4-FFF2-40B4-BE49-F238E27FC236}">
                <a16:creationId xmlns:a16="http://schemas.microsoft.com/office/drawing/2014/main" id="{04ECED28-5D8C-734C-7BD0-1F3E8F306E3A}"/>
              </a:ext>
            </a:extLst>
          </p:cNvPr>
          <p:cNvSpPr>
            <a:spLocks noGrp="1"/>
          </p:cNvSpPr>
          <p:nvPr>
            <p:ph type="body" idx="1"/>
          </p:nvPr>
        </p:nvSpPr>
        <p:spPr>
          <a:xfrm>
            <a:off x="812800" y="1143001"/>
            <a:ext cx="10668000" cy="1551038"/>
          </a:xfrm>
        </p:spPr>
        <p:txBody>
          <a:bodyPr>
            <a:normAutofit/>
          </a:bodyPr>
          <a:lstStyle/>
          <a:p>
            <a:pPr marL="76200" indent="0">
              <a:buNone/>
            </a:pPr>
            <a:r>
              <a:rPr lang="en-US" sz="2000" dirty="0">
                <a:latin typeface="Cambria" panose="02040503050406030204" pitchFamily="18" charset="0"/>
                <a:ea typeface="Cambria" panose="02040503050406030204" pitchFamily="18" charset="0"/>
              </a:rPr>
              <a:t>T</a:t>
            </a:r>
            <a:r>
              <a:rPr lang="en-US" sz="2000" b="1" dirty="0">
                <a:latin typeface="Cambria" panose="02040503050406030204" pitchFamily="18" charset="0"/>
                <a:ea typeface="Cambria" panose="02040503050406030204" pitchFamily="18" charset="0"/>
              </a:rPr>
              <a:t>ourism and the Smartphone App: Capabilities and Scope in Travel</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A. Dickinson et al., “Tourism and the Smartphone App,” </a:t>
            </a:r>
            <a:r>
              <a:rPr lang="en-US" sz="2000" i="1" dirty="0">
                <a:latin typeface="Cambria" panose="02040503050406030204" pitchFamily="18" charset="0"/>
                <a:ea typeface="Cambria" panose="02040503050406030204" pitchFamily="18" charset="0"/>
              </a:rPr>
              <a:t>Current Issues in Tourism</a:t>
            </a:r>
            <a:r>
              <a:rPr lang="en-US" sz="2000" dirty="0">
                <a:latin typeface="Cambria" panose="02040503050406030204" pitchFamily="18" charset="0"/>
                <a:ea typeface="Cambria" panose="02040503050406030204" pitchFamily="18" charset="0"/>
              </a:rPr>
              <a:t>, vol. 17, no. 1, 2014.</a:t>
            </a:r>
            <a:endParaRPr lang="en-IN" sz="2000" dirty="0">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E998EA94-5C39-14B6-71A7-76C52E8E99E8}"/>
              </a:ext>
            </a:extLst>
          </p:cNvPr>
          <p:cNvSpPr txBox="1"/>
          <p:nvPr/>
        </p:nvSpPr>
        <p:spPr>
          <a:xfrm>
            <a:off x="812800" y="2526890"/>
            <a:ext cx="10346813" cy="2554545"/>
          </a:xfrm>
          <a:prstGeom prst="rect">
            <a:avLst/>
          </a:prstGeom>
          <a:noFill/>
        </p:spPr>
        <p:txBody>
          <a:bodyPr wrap="square" numCol="2" rtlCol="0">
            <a:spAutoFit/>
          </a:bodyPr>
          <a:lstStyle/>
          <a:p>
            <a:r>
              <a:rPr lang="en-US" sz="2000" b="1" dirty="0">
                <a:latin typeface="Cambria" panose="02040503050406030204" pitchFamily="18" charset="0"/>
                <a:ea typeface="Cambria" panose="02040503050406030204" pitchFamily="18" charset="0"/>
              </a:rPr>
              <a:t>Review:</a:t>
            </a:r>
          </a:p>
          <a:p>
            <a:r>
              <a:rPr lang="en-US" sz="2000" dirty="0">
                <a:latin typeface="Cambria" panose="02040503050406030204" pitchFamily="18" charset="0"/>
                <a:ea typeface="Cambria" panose="02040503050406030204" pitchFamily="18" charset="0"/>
              </a:rPr>
              <a:t>• Analyzes how smartphones support travel planning and on-trip decisions.</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Discusses GPS, maps, and location-based services in tourism.</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Identifies fragmentation of travel information across multiple apps.</a:t>
            </a:r>
          </a:p>
          <a:p>
            <a:endParaRPr lang="en-US" sz="2000" b="1" dirty="0">
              <a:latin typeface="Cambria" panose="02040503050406030204" pitchFamily="18" charset="0"/>
              <a:ea typeface="Cambria" panose="02040503050406030204" pitchFamily="18" charset="0"/>
            </a:endParaRPr>
          </a:p>
          <a:p>
            <a:r>
              <a:rPr lang="en-US" sz="2000" b="1" dirty="0">
                <a:latin typeface="Cambria" panose="02040503050406030204" pitchFamily="18" charset="0"/>
                <a:ea typeface="Cambria" panose="02040503050406030204" pitchFamily="18" charset="0"/>
              </a:rPr>
              <a:t>Analysis:</a:t>
            </a:r>
          </a:p>
          <a:p>
            <a:r>
              <a:rPr lang="en-US" sz="2000" dirty="0">
                <a:latin typeface="Cambria" panose="02040503050406030204" pitchFamily="18" charset="0"/>
                <a:ea typeface="Cambria" panose="02040503050406030204" pitchFamily="18" charset="0"/>
              </a:rPr>
              <a:t>• Directly supports JourneyBox’s goal of reducing scattered travel information.</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Justifies integration of maps, itinerary, and documents in one system.</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Shows need for centralized travel data management.</a:t>
            </a:r>
          </a:p>
        </p:txBody>
      </p:sp>
    </p:spTree>
    <p:extLst>
      <p:ext uri="{BB962C8B-B14F-4D97-AF65-F5344CB8AC3E}">
        <p14:creationId xmlns:p14="http://schemas.microsoft.com/office/powerpoint/2010/main" val="1230211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6CAC7-AC9D-8D09-EE00-CBD976497DFD}"/>
              </a:ext>
            </a:extLst>
          </p:cNvPr>
          <p:cNvSpPr>
            <a:spLocks noGrp="1"/>
          </p:cNvSpPr>
          <p:nvPr>
            <p:ph type="title"/>
          </p:nvPr>
        </p:nvSpPr>
        <p:spPr/>
        <p:txBody>
          <a:bodyPr/>
          <a:lstStyle/>
          <a:p>
            <a:r>
              <a:rPr lang="en-IN" dirty="0">
                <a:latin typeface="Cambria" panose="02040503050406030204" pitchFamily="18" charset="0"/>
                <a:ea typeface="Cambria" panose="02040503050406030204" pitchFamily="18" charset="0"/>
              </a:rPr>
              <a:t>Literature Survey (Paper 2)</a:t>
            </a:r>
          </a:p>
        </p:txBody>
      </p:sp>
      <p:sp>
        <p:nvSpPr>
          <p:cNvPr id="3" name="Text Placeholder 2">
            <a:extLst>
              <a:ext uri="{FF2B5EF4-FFF2-40B4-BE49-F238E27FC236}">
                <a16:creationId xmlns:a16="http://schemas.microsoft.com/office/drawing/2014/main" id="{10C0CE71-CCE8-EBD1-3F04-91731C5B2AED}"/>
              </a:ext>
            </a:extLst>
          </p:cNvPr>
          <p:cNvSpPr>
            <a:spLocks noGrp="1"/>
          </p:cNvSpPr>
          <p:nvPr>
            <p:ph type="body" idx="1"/>
          </p:nvPr>
        </p:nvSpPr>
        <p:spPr>
          <a:xfrm>
            <a:off x="812800" y="1143001"/>
            <a:ext cx="10668000" cy="1236405"/>
          </a:xfrm>
        </p:spPr>
        <p:txBody>
          <a:bodyPr>
            <a:normAutofit/>
          </a:bodyPr>
          <a:lstStyle/>
          <a:p>
            <a:pPr marL="76200" indent="0">
              <a:buNone/>
            </a:pPr>
            <a:r>
              <a:rPr lang="en-US" sz="2000" b="1" dirty="0">
                <a:latin typeface="Cambria" panose="02040503050406030204" pitchFamily="18" charset="0"/>
                <a:ea typeface="Cambria" panose="02040503050406030204" pitchFamily="18" charset="0"/>
              </a:rPr>
              <a:t>Design of Mobile Tourist Guide Using Location Based Services</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M. B. Reddy and S. Kumar, “Mobile Tourist Guide Application Using Location Based Services,” </a:t>
            </a:r>
            <a:r>
              <a:rPr lang="en-US" sz="2000" i="1" dirty="0">
                <a:latin typeface="Cambria" panose="02040503050406030204" pitchFamily="18" charset="0"/>
                <a:ea typeface="Cambria" panose="02040503050406030204" pitchFamily="18" charset="0"/>
              </a:rPr>
              <a:t>IJCA</a:t>
            </a:r>
            <a:r>
              <a:rPr lang="en-US" sz="2000" dirty="0">
                <a:latin typeface="Cambria" panose="02040503050406030204" pitchFamily="18" charset="0"/>
                <a:ea typeface="Cambria" panose="02040503050406030204" pitchFamily="18" charset="0"/>
              </a:rPr>
              <a:t>, vol. 120, no. 10, 2015.</a:t>
            </a:r>
            <a:endParaRPr lang="en-IN" sz="2000" dirty="0">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CBBEAD80-90DA-C5D5-D832-CC9761516D99}"/>
              </a:ext>
            </a:extLst>
          </p:cNvPr>
          <p:cNvSpPr txBox="1"/>
          <p:nvPr/>
        </p:nvSpPr>
        <p:spPr>
          <a:xfrm>
            <a:off x="812800" y="2635045"/>
            <a:ext cx="10445135" cy="2554545"/>
          </a:xfrm>
          <a:prstGeom prst="rect">
            <a:avLst/>
          </a:prstGeom>
          <a:noFill/>
        </p:spPr>
        <p:txBody>
          <a:bodyPr wrap="square" numCol="2" rtlCol="0">
            <a:spAutoFit/>
          </a:bodyPr>
          <a:lstStyle/>
          <a:p>
            <a:r>
              <a:rPr lang="en-US" sz="2000" b="1" dirty="0">
                <a:latin typeface="Cambria" panose="02040503050406030204" pitchFamily="18" charset="0"/>
                <a:ea typeface="Cambria" panose="02040503050406030204" pitchFamily="18" charset="0"/>
              </a:rPr>
              <a:t>Review:</a:t>
            </a:r>
          </a:p>
          <a:p>
            <a:r>
              <a:rPr lang="en-US" sz="2000" dirty="0">
                <a:latin typeface="Cambria" panose="02040503050406030204" pitchFamily="18" charset="0"/>
                <a:ea typeface="Cambria" panose="02040503050406030204" pitchFamily="18" charset="0"/>
              </a:rPr>
              <a:t>• Proposes a mobile guide using GPS and maps.</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Demonstrates how location-based alerts improve traveler assistance.</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Focuses on real-time navigation support.</a:t>
            </a:r>
          </a:p>
          <a:p>
            <a:endParaRPr lang="en-US" sz="2000" dirty="0">
              <a:latin typeface="Cambria" panose="02040503050406030204" pitchFamily="18" charset="0"/>
              <a:ea typeface="Cambria" panose="02040503050406030204" pitchFamily="18" charset="0"/>
            </a:endParaRPr>
          </a:p>
          <a:p>
            <a:endParaRPr lang="en-US" sz="2000" dirty="0">
              <a:latin typeface="Cambria" panose="02040503050406030204" pitchFamily="18" charset="0"/>
              <a:ea typeface="Cambria" panose="02040503050406030204" pitchFamily="18" charset="0"/>
            </a:endParaRPr>
          </a:p>
          <a:p>
            <a:endParaRPr lang="en-US" sz="2000" dirty="0">
              <a:latin typeface="Cambria" panose="02040503050406030204" pitchFamily="18" charset="0"/>
              <a:ea typeface="Cambria" panose="02040503050406030204" pitchFamily="18" charset="0"/>
            </a:endParaRPr>
          </a:p>
          <a:p>
            <a:r>
              <a:rPr lang="en-US" sz="2000" b="1" dirty="0">
                <a:latin typeface="Cambria" panose="02040503050406030204" pitchFamily="18" charset="0"/>
                <a:ea typeface="Cambria" panose="02040503050406030204" pitchFamily="18" charset="0"/>
              </a:rPr>
              <a:t>Analysis:</a:t>
            </a:r>
          </a:p>
          <a:p>
            <a:r>
              <a:rPr lang="en-US" sz="2000" dirty="0">
                <a:latin typeface="Cambria" panose="02040503050406030204" pitchFamily="18" charset="0"/>
                <a:ea typeface="Cambria" panose="02040503050406030204" pitchFamily="18" charset="0"/>
              </a:rPr>
              <a:t>• Supports JourneyBox’s use of Google Maps API.</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Validates location-triggered reminders and nearby services features.</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Confirms the usefulness of real-time travel assistance.</a:t>
            </a:r>
          </a:p>
        </p:txBody>
      </p:sp>
    </p:spTree>
    <p:extLst>
      <p:ext uri="{BB962C8B-B14F-4D97-AF65-F5344CB8AC3E}">
        <p14:creationId xmlns:p14="http://schemas.microsoft.com/office/powerpoint/2010/main" val="3706382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0C220-B136-1DBC-D13E-3FA3ADCFF49B}"/>
              </a:ext>
            </a:extLst>
          </p:cNvPr>
          <p:cNvSpPr>
            <a:spLocks noGrp="1"/>
          </p:cNvSpPr>
          <p:nvPr>
            <p:ph type="title"/>
          </p:nvPr>
        </p:nvSpPr>
        <p:spPr/>
        <p:txBody>
          <a:bodyPr/>
          <a:lstStyle/>
          <a:p>
            <a:r>
              <a:rPr lang="en-IN" dirty="0">
                <a:latin typeface="Cambria" panose="02040503050406030204" pitchFamily="18" charset="0"/>
                <a:ea typeface="Cambria" panose="02040503050406030204" pitchFamily="18" charset="0"/>
              </a:rPr>
              <a:t>Literature Survey (Paper 3)</a:t>
            </a:r>
          </a:p>
        </p:txBody>
      </p:sp>
      <p:sp>
        <p:nvSpPr>
          <p:cNvPr id="3" name="Text Placeholder 2">
            <a:extLst>
              <a:ext uri="{FF2B5EF4-FFF2-40B4-BE49-F238E27FC236}">
                <a16:creationId xmlns:a16="http://schemas.microsoft.com/office/drawing/2014/main" id="{8704C8B0-59A4-4E1A-AF48-800E6DA22C0A}"/>
              </a:ext>
            </a:extLst>
          </p:cNvPr>
          <p:cNvSpPr>
            <a:spLocks noGrp="1"/>
          </p:cNvSpPr>
          <p:nvPr>
            <p:ph type="body" idx="1"/>
          </p:nvPr>
        </p:nvSpPr>
        <p:spPr>
          <a:xfrm>
            <a:off x="812800" y="1143001"/>
            <a:ext cx="10668000" cy="1423218"/>
          </a:xfrm>
        </p:spPr>
        <p:txBody>
          <a:bodyPr>
            <a:normAutofit/>
          </a:bodyPr>
          <a:lstStyle/>
          <a:p>
            <a:pPr marL="76200" indent="0">
              <a:buNone/>
            </a:pPr>
            <a:r>
              <a:rPr lang="en-US" sz="2000" b="1" dirty="0">
                <a:latin typeface="Cambria" panose="02040503050406030204" pitchFamily="18" charset="0"/>
                <a:ea typeface="Cambria" panose="02040503050406030204" pitchFamily="18" charset="0"/>
              </a:rPr>
              <a:t>A Smart Travel Planner Application Using Mobile Computing</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P. Kaur and S. Sharma, “A Smart Travel Planner Application,” </a:t>
            </a:r>
            <a:r>
              <a:rPr lang="en-US" sz="2000" i="1" dirty="0">
                <a:latin typeface="Cambria" panose="02040503050406030204" pitchFamily="18" charset="0"/>
                <a:ea typeface="Cambria" panose="02040503050406030204" pitchFamily="18" charset="0"/>
              </a:rPr>
              <a:t>ICCT Conference</a:t>
            </a:r>
            <a:r>
              <a:rPr lang="en-US" sz="2000" dirty="0">
                <a:latin typeface="Cambria" panose="02040503050406030204" pitchFamily="18" charset="0"/>
                <a:ea typeface="Cambria" panose="02040503050406030204" pitchFamily="18" charset="0"/>
              </a:rPr>
              <a:t>, 2018.</a:t>
            </a:r>
            <a:endParaRPr lang="en-US" sz="2000" b="1" dirty="0">
              <a:latin typeface="Cambria" panose="02040503050406030204" pitchFamily="18" charset="0"/>
              <a:ea typeface="Cambria" panose="02040503050406030204" pitchFamily="18" charset="0"/>
            </a:endParaRPr>
          </a:p>
          <a:p>
            <a:pPr marL="76200" indent="0">
              <a:buNone/>
            </a:pPr>
            <a:endParaRPr lang="en-IN" sz="2000" dirty="0">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DB58EBE0-9A4C-4CE8-9C43-49F0EEC16611}"/>
              </a:ext>
            </a:extLst>
          </p:cNvPr>
          <p:cNvSpPr txBox="1"/>
          <p:nvPr/>
        </p:nvSpPr>
        <p:spPr>
          <a:xfrm>
            <a:off x="812800" y="2694039"/>
            <a:ext cx="10284542" cy="2862322"/>
          </a:xfrm>
          <a:prstGeom prst="rect">
            <a:avLst/>
          </a:prstGeom>
          <a:noFill/>
        </p:spPr>
        <p:txBody>
          <a:bodyPr wrap="square" numCol="2" rtlCol="0">
            <a:spAutoFit/>
          </a:bodyPr>
          <a:lstStyle/>
          <a:p>
            <a:r>
              <a:rPr lang="en-US" sz="2000" b="1" dirty="0">
                <a:latin typeface="Cambria" panose="02040503050406030204" pitchFamily="18" charset="0"/>
                <a:ea typeface="Cambria" panose="02040503050406030204" pitchFamily="18" charset="0"/>
              </a:rPr>
              <a:t>Review:</a:t>
            </a:r>
          </a:p>
          <a:p>
            <a:r>
              <a:rPr lang="en-US" sz="2000" dirty="0">
                <a:latin typeface="Cambria" panose="02040503050406030204" pitchFamily="18" charset="0"/>
                <a:ea typeface="Cambria" panose="02040503050406030204" pitchFamily="18" charset="0"/>
              </a:rPr>
              <a:t>• Presents a mobile app for travel planning and scheduling.</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Discusses itinerary organization and travel convenience.</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Highlights the need for better user-friendly interfaces.</a:t>
            </a:r>
          </a:p>
          <a:p>
            <a:endParaRPr lang="en-US" sz="2000" dirty="0">
              <a:latin typeface="Cambria" panose="02040503050406030204" pitchFamily="18" charset="0"/>
              <a:ea typeface="Cambria" panose="02040503050406030204" pitchFamily="18" charset="0"/>
            </a:endParaRPr>
          </a:p>
          <a:p>
            <a:endParaRPr lang="en-US" sz="2000" dirty="0">
              <a:latin typeface="Cambria" panose="02040503050406030204" pitchFamily="18" charset="0"/>
              <a:ea typeface="Cambria" panose="02040503050406030204" pitchFamily="18" charset="0"/>
            </a:endParaRPr>
          </a:p>
          <a:p>
            <a:r>
              <a:rPr lang="en-US" sz="2000" b="1" dirty="0">
                <a:latin typeface="Cambria" panose="02040503050406030204" pitchFamily="18" charset="0"/>
                <a:ea typeface="Cambria" panose="02040503050406030204" pitchFamily="18" charset="0"/>
              </a:rPr>
              <a:t>Analysis:</a:t>
            </a:r>
          </a:p>
          <a:p>
            <a:r>
              <a:rPr lang="en-US" sz="2000" dirty="0">
                <a:latin typeface="Cambria" panose="02040503050406030204" pitchFamily="18" charset="0"/>
                <a:ea typeface="Cambria" panose="02040503050406030204" pitchFamily="18" charset="0"/>
              </a:rPr>
              <a:t>• Supports JourneyBox’s itinerary planner module.</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Emphasizes usability and structured trip planning.</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Shows demand for organized travel management apps.</a:t>
            </a:r>
          </a:p>
          <a:p>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111343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01DEC-6FAB-7341-5554-96FA8591B666}"/>
              </a:ext>
            </a:extLst>
          </p:cNvPr>
          <p:cNvSpPr>
            <a:spLocks noGrp="1"/>
          </p:cNvSpPr>
          <p:nvPr>
            <p:ph type="title"/>
          </p:nvPr>
        </p:nvSpPr>
        <p:spPr/>
        <p:txBody>
          <a:bodyPr/>
          <a:lstStyle/>
          <a:p>
            <a:r>
              <a:rPr lang="en-IN" dirty="0">
                <a:latin typeface="Cambria" panose="02040503050406030204" pitchFamily="18" charset="0"/>
                <a:ea typeface="Cambria" panose="02040503050406030204" pitchFamily="18" charset="0"/>
              </a:rPr>
              <a:t>Literature Survey (Paper 4 )</a:t>
            </a:r>
          </a:p>
        </p:txBody>
      </p:sp>
      <p:sp>
        <p:nvSpPr>
          <p:cNvPr id="3" name="Text Placeholder 2">
            <a:extLst>
              <a:ext uri="{FF2B5EF4-FFF2-40B4-BE49-F238E27FC236}">
                <a16:creationId xmlns:a16="http://schemas.microsoft.com/office/drawing/2014/main" id="{B8352A59-FD72-5DEA-9B34-73FC08EA7A17}"/>
              </a:ext>
            </a:extLst>
          </p:cNvPr>
          <p:cNvSpPr>
            <a:spLocks noGrp="1"/>
          </p:cNvSpPr>
          <p:nvPr>
            <p:ph type="body" idx="1"/>
          </p:nvPr>
        </p:nvSpPr>
        <p:spPr>
          <a:xfrm>
            <a:off x="812800" y="1143001"/>
            <a:ext cx="10668000" cy="1462547"/>
          </a:xfrm>
        </p:spPr>
        <p:txBody>
          <a:bodyPr/>
          <a:lstStyle/>
          <a:p>
            <a:pPr marL="76200" indent="0">
              <a:buNone/>
            </a:pPr>
            <a:r>
              <a:rPr lang="en-US" sz="2000" b="1" dirty="0">
                <a:latin typeface="Cambria" panose="02040503050406030204" pitchFamily="18" charset="0"/>
                <a:ea typeface="Cambria" panose="02040503050406030204" pitchFamily="18" charset="0"/>
              </a:rPr>
              <a:t>Smart Tourism: Foundations and Developments</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C. Wang, Z. Li, and J. Wang, “Smart Tourism: Foundations and Developments,” </a:t>
            </a:r>
            <a:r>
              <a:rPr lang="en-US" sz="2000" i="1" dirty="0">
                <a:latin typeface="Cambria" panose="02040503050406030204" pitchFamily="18" charset="0"/>
                <a:ea typeface="Cambria" panose="02040503050406030204" pitchFamily="18" charset="0"/>
              </a:rPr>
              <a:t>Electronic Markets</a:t>
            </a:r>
            <a:r>
              <a:rPr lang="en-US" sz="2000" dirty="0">
                <a:latin typeface="Cambria" panose="02040503050406030204" pitchFamily="18" charset="0"/>
                <a:ea typeface="Cambria" panose="02040503050406030204" pitchFamily="18" charset="0"/>
              </a:rPr>
              <a:t>, vol. 30, no. 3, 2020</a:t>
            </a:r>
            <a:r>
              <a:rPr lang="en-US" dirty="0"/>
              <a:t>.</a:t>
            </a:r>
          </a:p>
          <a:p>
            <a:pPr marL="76200" indent="0">
              <a:buNone/>
            </a:pPr>
            <a:endParaRPr lang="en-IN" dirty="0"/>
          </a:p>
          <a:p>
            <a:pPr marL="76200" indent="0">
              <a:buNone/>
            </a:pPr>
            <a:endParaRPr lang="en-IN" dirty="0"/>
          </a:p>
        </p:txBody>
      </p:sp>
      <p:sp>
        <p:nvSpPr>
          <p:cNvPr id="5" name="TextBox 4">
            <a:extLst>
              <a:ext uri="{FF2B5EF4-FFF2-40B4-BE49-F238E27FC236}">
                <a16:creationId xmlns:a16="http://schemas.microsoft.com/office/drawing/2014/main" id="{D4537063-70C8-4B1A-C3C6-80A1C6D6F28A}"/>
              </a:ext>
            </a:extLst>
          </p:cNvPr>
          <p:cNvSpPr txBox="1"/>
          <p:nvPr/>
        </p:nvSpPr>
        <p:spPr>
          <a:xfrm>
            <a:off x="812800" y="2694039"/>
            <a:ext cx="11156335" cy="3785652"/>
          </a:xfrm>
          <a:prstGeom prst="rect">
            <a:avLst/>
          </a:prstGeom>
          <a:noFill/>
        </p:spPr>
        <p:txBody>
          <a:bodyPr wrap="square" numCol="2" rtlCol="0">
            <a:spAutoFit/>
          </a:bodyPr>
          <a:lstStyle/>
          <a:p>
            <a:r>
              <a:rPr lang="en-US" sz="2000" b="1" dirty="0">
                <a:latin typeface="Cambria" panose="02040503050406030204" pitchFamily="18" charset="0"/>
                <a:ea typeface="Cambria" panose="02040503050406030204" pitchFamily="18" charset="0"/>
              </a:rPr>
              <a:t>Review:</a:t>
            </a:r>
          </a:p>
          <a:p>
            <a:r>
              <a:rPr lang="en-US" sz="2000" dirty="0">
                <a:latin typeface="Cambria" panose="02040503050406030204" pitchFamily="18" charset="0"/>
                <a:ea typeface="Cambria" panose="02040503050406030204" pitchFamily="18" charset="0"/>
              </a:rPr>
              <a:t>• Explains how digital technologies are transforming tourism experiences.</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Discusses integration of mobile apps, location services, and personalized travel support.</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Highlights the importance of data-driven services In tourism systems.</a:t>
            </a:r>
          </a:p>
          <a:p>
            <a:endParaRPr lang="en-IN" sz="2000" dirty="0">
              <a:latin typeface="Cambria" panose="02040503050406030204" pitchFamily="18" charset="0"/>
              <a:ea typeface="Cambria" panose="02040503050406030204" pitchFamily="18" charset="0"/>
            </a:endParaRPr>
          </a:p>
          <a:p>
            <a:endParaRPr lang="en-IN" sz="2000" dirty="0">
              <a:latin typeface="Cambria" panose="02040503050406030204" pitchFamily="18" charset="0"/>
              <a:ea typeface="Cambria" panose="02040503050406030204" pitchFamily="18" charset="0"/>
            </a:endParaRPr>
          </a:p>
          <a:p>
            <a:endParaRPr lang="en-US" sz="2000" b="1" dirty="0">
              <a:latin typeface="Cambria" panose="02040503050406030204" pitchFamily="18" charset="0"/>
              <a:ea typeface="Cambria" panose="02040503050406030204" pitchFamily="18" charset="0"/>
            </a:endParaRPr>
          </a:p>
          <a:p>
            <a:endParaRPr lang="en-US" sz="2000" b="1" dirty="0">
              <a:latin typeface="Cambria" panose="02040503050406030204" pitchFamily="18" charset="0"/>
              <a:ea typeface="Cambria" panose="02040503050406030204" pitchFamily="18" charset="0"/>
            </a:endParaRPr>
          </a:p>
          <a:p>
            <a:endParaRPr lang="en-US" sz="2000" b="1" dirty="0">
              <a:latin typeface="Cambria" panose="02040503050406030204" pitchFamily="18" charset="0"/>
              <a:ea typeface="Cambria" panose="02040503050406030204" pitchFamily="18" charset="0"/>
            </a:endParaRPr>
          </a:p>
          <a:p>
            <a:r>
              <a:rPr lang="en-US" sz="2000" b="1" dirty="0">
                <a:latin typeface="Cambria" panose="02040503050406030204" pitchFamily="18" charset="0"/>
                <a:ea typeface="Cambria" panose="02040503050406030204" pitchFamily="18" charset="0"/>
              </a:rPr>
              <a:t>Analysis:</a:t>
            </a:r>
          </a:p>
          <a:p>
            <a:r>
              <a:rPr lang="en-US" sz="2000" dirty="0">
                <a:latin typeface="Cambria" panose="02040503050406030204" pitchFamily="18" charset="0"/>
                <a:ea typeface="Cambria" panose="02040503050406030204" pitchFamily="18" charset="0"/>
              </a:rPr>
              <a:t>• Supports the need for a unified mobile travel assistant like JourneyBox.</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Emphasizes real-time information and personalization, which align with itinerary and reminder features.</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Validates the role of mobile technology in enhancing traveler convenience.</a:t>
            </a:r>
          </a:p>
          <a:p>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4437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B2479-9E88-1B2E-426C-42343D860137}"/>
              </a:ext>
            </a:extLst>
          </p:cNvPr>
          <p:cNvSpPr>
            <a:spLocks noGrp="1"/>
          </p:cNvSpPr>
          <p:nvPr>
            <p:ph type="title"/>
          </p:nvPr>
        </p:nvSpPr>
        <p:spPr/>
        <p:txBody>
          <a:bodyPr/>
          <a:lstStyle/>
          <a:p>
            <a:r>
              <a:rPr lang="en-IN" dirty="0">
                <a:latin typeface="Cambria" panose="02040503050406030204" pitchFamily="18" charset="0"/>
                <a:ea typeface="Cambria" panose="02040503050406030204" pitchFamily="18" charset="0"/>
              </a:rPr>
              <a:t>Literature Survey (Paper 5)</a:t>
            </a:r>
          </a:p>
        </p:txBody>
      </p:sp>
      <p:sp>
        <p:nvSpPr>
          <p:cNvPr id="3" name="Text Placeholder 2">
            <a:extLst>
              <a:ext uri="{FF2B5EF4-FFF2-40B4-BE49-F238E27FC236}">
                <a16:creationId xmlns:a16="http://schemas.microsoft.com/office/drawing/2014/main" id="{CADDE8E6-B8AD-1309-412A-F7CDC813EA13}"/>
              </a:ext>
            </a:extLst>
          </p:cNvPr>
          <p:cNvSpPr>
            <a:spLocks noGrp="1"/>
          </p:cNvSpPr>
          <p:nvPr>
            <p:ph type="body" idx="1"/>
          </p:nvPr>
        </p:nvSpPr>
        <p:spPr>
          <a:xfrm>
            <a:off x="812800" y="1143001"/>
            <a:ext cx="10668000" cy="1452715"/>
          </a:xfrm>
        </p:spPr>
        <p:txBody>
          <a:bodyPr>
            <a:normAutofit/>
          </a:bodyPr>
          <a:lstStyle/>
          <a:p>
            <a:pPr marL="76200" indent="0">
              <a:buNone/>
            </a:pPr>
            <a:r>
              <a:rPr lang="en-US" sz="2000" b="1" dirty="0">
                <a:latin typeface="Cambria" panose="02040503050406030204" pitchFamily="18" charset="0"/>
                <a:ea typeface="Cambria" panose="02040503050406030204" pitchFamily="18" charset="0"/>
              </a:rPr>
              <a:t>Mobile Travel Applications and Their Impact on Tourist Experience</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X. Y. Zheng, K. H. Lim, and J. Yang, “Mobile Travel Applications and Their Impact on Tourist Experience,” </a:t>
            </a:r>
            <a:r>
              <a:rPr lang="en-US" sz="2000" i="1" dirty="0">
                <a:latin typeface="Cambria" panose="02040503050406030204" pitchFamily="18" charset="0"/>
                <a:ea typeface="Cambria" panose="02040503050406030204" pitchFamily="18" charset="0"/>
              </a:rPr>
              <a:t>Tourism Management Perspectives</a:t>
            </a:r>
            <a:r>
              <a:rPr lang="en-US" sz="2000" dirty="0">
                <a:latin typeface="Cambria" panose="02040503050406030204" pitchFamily="18" charset="0"/>
                <a:ea typeface="Cambria" panose="02040503050406030204" pitchFamily="18" charset="0"/>
              </a:rPr>
              <a:t>, vol. 35, 2020.</a:t>
            </a:r>
            <a:endParaRPr lang="en-IN" sz="2000" dirty="0">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32943C55-3D81-816F-B905-D75EE3820B65}"/>
              </a:ext>
            </a:extLst>
          </p:cNvPr>
          <p:cNvSpPr txBox="1"/>
          <p:nvPr/>
        </p:nvSpPr>
        <p:spPr>
          <a:xfrm>
            <a:off x="812800" y="2684206"/>
            <a:ext cx="10474632" cy="2554545"/>
          </a:xfrm>
          <a:prstGeom prst="rect">
            <a:avLst/>
          </a:prstGeom>
          <a:noFill/>
        </p:spPr>
        <p:txBody>
          <a:bodyPr wrap="square" numCol="2" rtlCol="0">
            <a:spAutoFit/>
          </a:bodyPr>
          <a:lstStyle/>
          <a:p>
            <a:r>
              <a:rPr lang="en-US" sz="2000" b="1" dirty="0">
                <a:latin typeface="Cambria" panose="02040503050406030204" pitchFamily="18" charset="0"/>
                <a:ea typeface="Cambria" panose="02040503050406030204" pitchFamily="18" charset="0"/>
              </a:rPr>
              <a:t>Review:</a:t>
            </a:r>
          </a:p>
          <a:p>
            <a:r>
              <a:rPr lang="en-US" sz="2000" dirty="0">
                <a:latin typeface="Cambria" panose="02040503050406030204" pitchFamily="18" charset="0"/>
                <a:ea typeface="Cambria" panose="02040503050406030204" pitchFamily="18" charset="0"/>
              </a:rPr>
              <a:t>• Studies how travelers use mobile apps for trip planning and navigation.</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Shows that travel apps improve satisfaction and reduce travel stress.</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Identifies usability and accessibility as key success factors.</a:t>
            </a:r>
          </a:p>
          <a:p>
            <a:endParaRPr lang="en-US" sz="2000" dirty="0">
              <a:latin typeface="Cambria" panose="02040503050406030204" pitchFamily="18" charset="0"/>
              <a:ea typeface="Cambria" panose="02040503050406030204" pitchFamily="18" charset="0"/>
            </a:endParaRPr>
          </a:p>
          <a:p>
            <a:r>
              <a:rPr lang="en-US" sz="2000" b="1" dirty="0">
                <a:latin typeface="Cambria" panose="02040503050406030204" pitchFamily="18" charset="0"/>
                <a:ea typeface="Cambria" panose="02040503050406030204" pitchFamily="18" charset="0"/>
              </a:rPr>
              <a:t>Analysis:</a:t>
            </a:r>
          </a:p>
          <a:p>
            <a:r>
              <a:rPr lang="en-US" sz="2000" dirty="0">
                <a:latin typeface="Cambria" panose="02040503050406030204" pitchFamily="18" charset="0"/>
                <a:ea typeface="Cambria" panose="02040503050406030204" pitchFamily="18" charset="0"/>
              </a:rPr>
              <a:t>• Confirms that an all-in-one app like JourneyBox can improve trip management.</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Supports offline access and simple UI design for better usability.</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Reinforces importance of real-time travel assistance features.</a:t>
            </a:r>
          </a:p>
        </p:txBody>
      </p:sp>
    </p:spTree>
    <p:extLst>
      <p:ext uri="{BB962C8B-B14F-4D97-AF65-F5344CB8AC3E}">
        <p14:creationId xmlns:p14="http://schemas.microsoft.com/office/powerpoint/2010/main" val="368380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2E210-2B14-73EC-D02A-787A65E88DF1}"/>
              </a:ext>
            </a:extLst>
          </p:cNvPr>
          <p:cNvSpPr>
            <a:spLocks noGrp="1"/>
          </p:cNvSpPr>
          <p:nvPr>
            <p:ph type="title"/>
          </p:nvPr>
        </p:nvSpPr>
        <p:spPr/>
        <p:txBody>
          <a:bodyPr/>
          <a:lstStyle/>
          <a:p>
            <a:r>
              <a:rPr lang="en-IN" dirty="0">
                <a:latin typeface="Cambria" panose="02040503050406030204" pitchFamily="18" charset="0"/>
                <a:ea typeface="Cambria" panose="02040503050406030204" pitchFamily="18" charset="0"/>
              </a:rPr>
              <a:t>Literature survey (paper 6)</a:t>
            </a:r>
          </a:p>
        </p:txBody>
      </p:sp>
      <p:sp>
        <p:nvSpPr>
          <p:cNvPr id="3" name="Text Placeholder 2">
            <a:extLst>
              <a:ext uri="{FF2B5EF4-FFF2-40B4-BE49-F238E27FC236}">
                <a16:creationId xmlns:a16="http://schemas.microsoft.com/office/drawing/2014/main" id="{D0C8CB33-1665-1402-26FD-B3CB7EF22553}"/>
              </a:ext>
            </a:extLst>
          </p:cNvPr>
          <p:cNvSpPr>
            <a:spLocks noGrp="1"/>
          </p:cNvSpPr>
          <p:nvPr>
            <p:ph type="body" idx="1"/>
          </p:nvPr>
        </p:nvSpPr>
        <p:spPr>
          <a:xfrm>
            <a:off x="812800" y="1143001"/>
            <a:ext cx="10668000" cy="1334728"/>
          </a:xfrm>
        </p:spPr>
        <p:txBody>
          <a:bodyPr>
            <a:noAutofit/>
          </a:bodyPr>
          <a:lstStyle/>
          <a:p>
            <a:pPr marL="76200" indent="0">
              <a:buNone/>
            </a:pPr>
            <a:r>
              <a:rPr lang="en-US" sz="2000" b="1" dirty="0">
                <a:latin typeface="Cambria" panose="02040503050406030204" pitchFamily="18" charset="0"/>
                <a:ea typeface="Cambria" panose="02040503050406030204" pitchFamily="18" charset="0"/>
              </a:rPr>
              <a:t>Smart Tourism, Hospitality and Destination: A Systematic Review</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Ahmed Alsharif et al., “Smart Tourism, Hospitality, and Destination: A Systematic Review and Future Directions,” </a:t>
            </a:r>
            <a:r>
              <a:rPr lang="en-US" sz="2000" i="1" dirty="0">
                <a:latin typeface="Cambria" panose="02040503050406030204" pitchFamily="18" charset="0"/>
                <a:ea typeface="Cambria" panose="02040503050406030204" pitchFamily="18" charset="0"/>
              </a:rPr>
              <a:t>Systematic Review (SLR)</a:t>
            </a:r>
            <a:r>
              <a:rPr lang="en-US" sz="2000" dirty="0">
                <a:latin typeface="Cambria" panose="02040503050406030204" pitchFamily="18" charset="0"/>
                <a:ea typeface="Cambria" panose="02040503050406030204" pitchFamily="18" charset="0"/>
              </a:rPr>
              <a:t>, 2023–2024.</a:t>
            </a:r>
            <a:endParaRPr lang="en-IN" sz="2000" dirty="0">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DBBC298C-8D60-3FA4-B2A9-2831D073142E}"/>
              </a:ext>
            </a:extLst>
          </p:cNvPr>
          <p:cNvSpPr txBox="1"/>
          <p:nvPr/>
        </p:nvSpPr>
        <p:spPr>
          <a:xfrm>
            <a:off x="812800" y="2641334"/>
            <a:ext cx="10087897" cy="3477875"/>
          </a:xfrm>
          <a:prstGeom prst="rect">
            <a:avLst/>
          </a:prstGeom>
          <a:noFill/>
        </p:spPr>
        <p:txBody>
          <a:bodyPr wrap="square" numCol="2" rtlCol="0">
            <a:spAutoFit/>
          </a:bodyPr>
          <a:lstStyle/>
          <a:p>
            <a:r>
              <a:rPr lang="en-US" sz="2000" b="1" dirty="0">
                <a:latin typeface="Cambria" panose="02040503050406030204" pitchFamily="18" charset="0"/>
                <a:ea typeface="Cambria" panose="02040503050406030204" pitchFamily="18" charset="0"/>
              </a:rPr>
              <a:t>Review:</a:t>
            </a:r>
          </a:p>
          <a:p>
            <a:r>
              <a:rPr lang="en-US" sz="2000" dirty="0">
                <a:latin typeface="Cambria" panose="02040503050406030204" pitchFamily="18" charset="0"/>
                <a:ea typeface="Cambria" panose="02040503050406030204" pitchFamily="18" charset="0"/>
              </a:rPr>
              <a:t>• Systematically surveys smart tourism research (2013–2023).</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Identifies major themes: personalization, contextual services, and destination-level integration.</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Highlights methodologies: empirical studies, case studies, and SLR gaps.</a:t>
            </a:r>
          </a:p>
          <a:p>
            <a:endParaRPr lang="en-US" sz="2000" dirty="0">
              <a:latin typeface="Cambria" panose="02040503050406030204" pitchFamily="18" charset="0"/>
              <a:ea typeface="Cambria" panose="02040503050406030204" pitchFamily="18" charset="0"/>
            </a:endParaRPr>
          </a:p>
          <a:p>
            <a:endParaRPr lang="en-US" sz="2000" dirty="0">
              <a:latin typeface="Cambria" panose="02040503050406030204" pitchFamily="18" charset="0"/>
              <a:ea typeface="Cambria" panose="02040503050406030204" pitchFamily="18" charset="0"/>
            </a:endParaRPr>
          </a:p>
          <a:p>
            <a:endParaRPr lang="en-US" sz="2000" dirty="0">
              <a:latin typeface="Cambria" panose="02040503050406030204" pitchFamily="18" charset="0"/>
              <a:ea typeface="Cambria" panose="02040503050406030204" pitchFamily="18" charset="0"/>
            </a:endParaRPr>
          </a:p>
          <a:p>
            <a:r>
              <a:rPr lang="en-US" sz="2000" b="1" dirty="0">
                <a:latin typeface="Cambria" panose="02040503050406030204" pitchFamily="18" charset="0"/>
                <a:ea typeface="Cambria" panose="02040503050406030204" pitchFamily="18" charset="0"/>
              </a:rPr>
              <a:t>Analysis:</a:t>
            </a:r>
          </a:p>
          <a:p>
            <a:r>
              <a:rPr lang="en-US" sz="2000" dirty="0">
                <a:latin typeface="Cambria" panose="02040503050406030204" pitchFamily="18" charset="0"/>
                <a:ea typeface="Cambria" panose="02040503050406030204" pitchFamily="18" charset="0"/>
              </a:rPr>
              <a:t>• Confirms demand for integrated, context-aware travel systems (supports JourneyBox).</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Suggests personalization &amp; destination-level services as high-impact additions.</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Encourages evaluation metrics (user satisfaction, adoption) we should include in future testing.</a:t>
            </a:r>
          </a:p>
          <a:p>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808196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BACCC-072F-07B0-DB82-15B2A385A7A0}"/>
              </a:ext>
            </a:extLst>
          </p:cNvPr>
          <p:cNvSpPr>
            <a:spLocks noGrp="1"/>
          </p:cNvSpPr>
          <p:nvPr>
            <p:ph type="title"/>
          </p:nvPr>
        </p:nvSpPr>
        <p:spPr/>
        <p:txBody>
          <a:bodyPr/>
          <a:lstStyle/>
          <a:p>
            <a:r>
              <a:rPr lang="en-IN" dirty="0">
                <a:latin typeface="Cambria" panose="02040503050406030204" pitchFamily="18" charset="0"/>
                <a:ea typeface="Cambria" panose="02040503050406030204" pitchFamily="18" charset="0"/>
              </a:rPr>
              <a:t>Literature survey (paper 7)</a:t>
            </a:r>
          </a:p>
        </p:txBody>
      </p:sp>
      <p:sp>
        <p:nvSpPr>
          <p:cNvPr id="3" name="Text Placeholder 2">
            <a:extLst>
              <a:ext uri="{FF2B5EF4-FFF2-40B4-BE49-F238E27FC236}">
                <a16:creationId xmlns:a16="http://schemas.microsoft.com/office/drawing/2014/main" id="{F600DA02-191A-704B-63BB-229F64760C11}"/>
              </a:ext>
            </a:extLst>
          </p:cNvPr>
          <p:cNvSpPr>
            <a:spLocks noGrp="1"/>
          </p:cNvSpPr>
          <p:nvPr>
            <p:ph type="body" idx="1"/>
          </p:nvPr>
        </p:nvSpPr>
        <p:spPr>
          <a:xfrm>
            <a:off x="812800" y="1143001"/>
            <a:ext cx="10668000" cy="1088922"/>
          </a:xfrm>
        </p:spPr>
        <p:txBody>
          <a:bodyPr>
            <a:normAutofit/>
          </a:bodyPr>
          <a:lstStyle/>
          <a:p>
            <a:pPr marL="76200" indent="0">
              <a:buNone/>
            </a:pPr>
            <a:r>
              <a:rPr lang="en-IN" sz="2000" b="1" dirty="0">
                <a:latin typeface="Cambria" panose="02040503050406030204" pitchFamily="18" charset="0"/>
                <a:ea typeface="Cambria" panose="02040503050406030204" pitchFamily="18" charset="0"/>
              </a:rPr>
              <a:t>ML Kit Text Recognition (OCR) v2 — Mobile On-device OCR</a:t>
            </a:r>
            <a:br>
              <a:rPr lang="en-IN" sz="2000" dirty="0">
                <a:latin typeface="Cambria" panose="02040503050406030204" pitchFamily="18" charset="0"/>
                <a:ea typeface="Cambria" panose="02040503050406030204" pitchFamily="18" charset="0"/>
              </a:rPr>
            </a:br>
            <a:r>
              <a:rPr lang="en-IN" sz="2000" dirty="0">
                <a:latin typeface="Cambria" panose="02040503050406030204" pitchFamily="18" charset="0"/>
                <a:ea typeface="Cambria" panose="02040503050406030204" pitchFamily="18" charset="0"/>
              </a:rPr>
              <a:t>Google Developers, “ML Kit Text Recognition v2,” Google, 2024.</a:t>
            </a:r>
          </a:p>
          <a:p>
            <a:pPr marL="76200" indent="0">
              <a:buNone/>
            </a:pPr>
            <a:endParaRPr lang="en-IN" sz="2000" b="1" dirty="0">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9705B99C-1C33-BAB7-33CB-F22ECC4D6D1A}"/>
              </a:ext>
            </a:extLst>
          </p:cNvPr>
          <p:cNvSpPr txBox="1"/>
          <p:nvPr/>
        </p:nvSpPr>
        <p:spPr>
          <a:xfrm>
            <a:off x="812800" y="2612786"/>
            <a:ext cx="10028904" cy="3477875"/>
          </a:xfrm>
          <a:prstGeom prst="rect">
            <a:avLst/>
          </a:prstGeom>
          <a:noFill/>
        </p:spPr>
        <p:txBody>
          <a:bodyPr wrap="square" numCol="2" rtlCol="0">
            <a:spAutoFit/>
          </a:bodyPr>
          <a:lstStyle/>
          <a:p>
            <a:r>
              <a:rPr lang="en-IN" sz="2000" b="1" dirty="0">
                <a:latin typeface="Cambria" panose="02040503050406030204" pitchFamily="18" charset="0"/>
                <a:ea typeface="Cambria" panose="02040503050406030204" pitchFamily="18" charset="0"/>
              </a:rPr>
              <a:t>Review:</a:t>
            </a:r>
          </a:p>
          <a:p>
            <a:r>
              <a:rPr lang="en-IN" sz="2000" dirty="0">
                <a:latin typeface="Cambria" panose="02040503050406030204" pitchFamily="18" charset="0"/>
                <a:ea typeface="Cambria" panose="02040503050406030204" pitchFamily="18" charset="0"/>
              </a:rPr>
              <a:t>• Technical documentation and benchmarks for on-device OCR optimized for mobile.</a:t>
            </a:r>
            <a:br>
              <a:rPr lang="en-IN" sz="2000" dirty="0">
                <a:latin typeface="Cambria" panose="02040503050406030204" pitchFamily="18" charset="0"/>
                <a:ea typeface="Cambria" panose="02040503050406030204" pitchFamily="18" charset="0"/>
              </a:rPr>
            </a:br>
            <a:r>
              <a:rPr lang="en-IN" sz="2000" dirty="0">
                <a:latin typeface="Cambria" panose="02040503050406030204" pitchFamily="18" charset="0"/>
                <a:ea typeface="Cambria" panose="02040503050406030204" pitchFamily="18" charset="0"/>
              </a:rPr>
              <a:t>• Shows improved accuracy, multi-language support, and offline capabilities.</a:t>
            </a:r>
            <a:br>
              <a:rPr lang="en-IN" sz="2000" dirty="0">
                <a:latin typeface="Cambria" panose="02040503050406030204" pitchFamily="18" charset="0"/>
                <a:ea typeface="Cambria" panose="02040503050406030204" pitchFamily="18" charset="0"/>
              </a:rPr>
            </a:br>
            <a:r>
              <a:rPr lang="en-IN" sz="2000" dirty="0">
                <a:latin typeface="Cambria" panose="02040503050406030204" pitchFamily="18" charset="0"/>
                <a:ea typeface="Cambria" panose="02040503050406030204" pitchFamily="18" charset="0"/>
              </a:rPr>
              <a:t>• Provides integration guides for Android apps.</a:t>
            </a:r>
          </a:p>
          <a:p>
            <a:endParaRPr lang="en-IN" sz="2000" dirty="0">
              <a:latin typeface="Cambria" panose="02040503050406030204" pitchFamily="18" charset="0"/>
              <a:ea typeface="Cambria" panose="02040503050406030204" pitchFamily="18" charset="0"/>
            </a:endParaRPr>
          </a:p>
          <a:p>
            <a:endParaRPr lang="en-IN" sz="2000" dirty="0">
              <a:latin typeface="Cambria" panose="02040503050406030204" pitchFamily="18" charset="0"/>
              <a:ea typeface="Cambria" panose="02040503050406030204" pitchFamily="18" charset="0"/>
            </a:endParaRPr>
          </a:p>
          <a:p>
            <a:endParaRPr lang="en-IN" sz="2000" dirty="0">
              <a:latin typeface="Cambria" panose="02040503050406030204" pitchFamily="18" charset="0"/>
              <a:ea typeface="Cambria" panose="02040503050406030204" pitchFamily="18" charset="0"/>
            </a:endParaRPr>
          </a:p>
          <a:p>
            <a:endParaRPr lang="en-IN" sz="2000" dirty="0">
              <a:latin typeface="Cambria" panose="02040503050406030204" pitchFamily="18" charset="0"/>
              <a:ea typeface="Cambria" panose="02040503050406030204" pitchFamily="18" charset="0"/>
            </a:endParaRPr>
          </a:p>
          <a:p>
            <a:r>
              <a:rPr lang="en-IN" sz="2000" b="1" dirty="0">
                <a:latin typeface="Cambria" panose="02040503050406030204" pitchFamily="18" charset="0"/>
                <a:ea typeface="Cambria" panose="02040503050406030204" pitchFamily="18" charset="0"/>
              </a:rPr>
              <a:t>Analysis:</a:t>
            </a:r>
          </a:p>
          <a:p>
            <a:r>
              <a:rPr lang="en-IN" sz="2000" dirty="0">
                <a:latin typeface="Cambria" panose="02040503050406030204" pitchFamily="18" charset="0"/>
                <a:ea typeface="Cambria" panose="02040503050406030204" pitchFamily="18" charset="0"/>
              </a:rPr>
              <a:t>• Directly enables </a:t>
            </a:r>
            <a:r>
              <a:rPr lang="en-IN" sz="2000" dirty="0" err="1">
                <a:latin typeface="Cambria" panose="02040503050406030204" pitchFamily="18" charset="0"/>
                <a:ea typeface="Cambria" panose="02040503050406030204" pitchFamily="18" charset="0"/>
              </a:rPr>
              <a:t>JourneyBox’s</a:t>
            </a:r>
            <a:r>
              <a:rPr lang="en-IN" sz="2000" dirty="0">
                <a:latin typeface="Cambria" panose="02040503050406030204" pitchFamily="18" charset="0"/>
                <a:ea typeface="Cambria" panose="02040503050406030204" pitchFamily="18" charset="0"/>
              </a:rPr>
              <a:t> Smart Capture (automatic extraction of PNRs, dates, amounts).</a:t>
            </a:r>
            <a:br>
              <a:rPr lang="en-IN" sz="2000" dirty="0">
                <a:latin typeface="Cambria" panose="02040503050406030204" pitchFamily="18" charset="0"/>
                <a:ea typeface="Cambria" panose="02040503050406030204" pitchFamily="18" charset="0"/>
              </a:rPr>
            </a:br>
            <a:r>
              <a:rPr lang="en-IN" sz="2000" dirty="0">
                <a:latin typeface="Cambria" panose="02040503050406030204" pitchFamily="18" charset="0"/>
                <a:ea typeface="Cambria" panose="02040503050406030204" pitchFamily="18" charset="0"/>
              </a:rPr>
              <a:t>• On-device OCR reduces privacy exposure and network dependency (good for offline-first design).</a:t>
            </a:r>
            <a:br>
              <a:rPr lang="en-IN" sz="2000" dirty="0">
                <a:latin typeface="Cambria" panose="02040503050406030204" pitchFamily="18" charset="0"/>
                <a:ea typeface="Cambria" panose="02040503050406030204" pitchFamily="18" charset="0"/>
              </a:rPr>
            </a:br>
            <a:r>
              <a:rPr lang="en-IN" sz="2000" dirty="0">
                <a:latin typeface="Cambria" panose="02040503050406030204" pitchFamily="18" charset="0"/>
                <a:ea typeface="Cambria" panose="02040503050406030204" pitchFamily="18" charset="0"/>
              </a:rPr>
              <a:t>• Use-case: auto-fill booking fields and attach parsed receipt data to expense entries.</a:t>
            </a:r>
          </a:p>
          <a:p>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737515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1B320-9EB5-77E8-BAB2-B34A9F8C5CB5}"/>
              </a:ext>
            </a:extLst>
          </p:cNvPr>
          <p:cNvSpPr>
            <a:spLocks noGrp="1"/>
          </p:cNvSpPr>
          <p:nvPr>
            <p:ph type="title"/>
          </p:nvPr>
        </p:nvSpPr>
        <p:spPr/>
        <p:txBody>
          <a:bodyPr/>
          <a:lstStyle/>
          <a:p>
            <a:r>
              <a:rPr lang="en-IN" dirty="0">
                <a:latin typeface="Cambria" panose="02040503050406030204" pitchFamily="18" charset="0"/>
                <a:ea typeface="Cambria" panose="02040503050406030204" pitchFamily="18" charset="0"/>
              </a:rPr>
              <a:t>Literature survey (paper 8)</a:t>
            </a:r>
          </a:p>
        </p:txBody>
      </p:sp>
      <p:sp>
        <p:nvSpPr>
          <p:cNvPr id="3" name="Text Placeholder 2">
            <a:extLst>
              <a:ext uri="{FF2B5EF4-FFF2-40B4-BE49-F238E27FC236}">
                <a16:creationId xmlns:a16="http://schemas.microsoft.com/office/drawing/2014/main" id="{59C74843-5B3B-3FD6-1FE3-ABB112E58861}"/>
              </a:ext>
            </a:extLst>
          </p:cNvPr>
          <p:cNvSpPr>
            <a:spLocks noGrp="1"/>
          </p:cNvSpPr>
          <p:nvPr>
            <p:ph type="body" idx="1"/>
          </p:nvPr>
        </p:nvSpPr>
        <p:spPr>
          <a:xfrm>
            <a:off x="812800" y="1143001"/>
            <a:ext cx="10668000" cy="1039760"/>
          </a:xfrm>
        </p:spPr>
        <p:txBody>
          <a:bodyPr>
            <a:noAutofit/>
          </a:bodyPr>
          <a:lstStyle/>
          <a:p>
            <a:pPr marL="76200" indent="0">
              <a:buNone/>
            </a:pPr>
            <a:r>
              <a:rPr lang="en-US" sz="2000" b="1" dirty="0">
                <a:latin typeface="Cambria" panose="02040503050406030204" pitchFamily="18" charset="0"/>
                <a:ea typeface="Cambria" panose="02040503050406030204" pitchFamily="18" charset="0"/>
              </a:rPr>
              <a:t>Offline-First Architectures for Mobile Apps (Engineering Studies &amp; Guides)</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Multiple engineering case studies and preprints (2023–2025) on offline-first mobile design and sync strategies.</a:t>
            </a:r>
            <a:endParaRPr lang="en-IN" sz="2000" dirty="0">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F12FFAF2-D7E1-36D7-B3D9-A303A7C5F215}"/>
              </a:ext>
            </a:extLst>
          </p:cNvPr>
          <p:cNvSpPr txBox="1"/>
          <p:nvPr/>
        </p:nvSpPr>
        <p:spPr>
          <a:xfrm>
            <a:off x="812800" y="2684206"/>
            <a:ext cx="10563123" cy="3170099"/>
          </a:xfrm>
          <a:prstGeom prst="rect">
            <a:avLst/>
          </a:prstGeom>
          <a:noFill/>
        </p:spPr>
        <p:txBody>
          <a:bodyPr wrap="square" numCol="2" rtlCol="0">
            <a:spAutoFit/>
          </a:bodyPr>
          <a:lstStyle/>
          <a:p>
            <a:r>
              <a:rPr lang="en-IN" sz="2000" b="1" dirty="0">
                <a:latin typeface="Cambria" panose="02040503050406030204" pitchFamily="18" charset="0"/>
                <a:ea typeface="Cambria" panose="02040503050406030204" pitchFamily="18" charset="0"/>
              </a:rPr>
              <a:t>Review:</a:t>
            </a:r>
          </a:p>
          <a:p>
            <a:r>
              <a:rPr lang="en-IN" sz="2000" dirty="0">
                <a:latin typeface="Cambria" panose="02040503050406030204" pitchFamily="18" charset="0"/>
                <a:ea typeface="Cambria" panose="02040503050406030204" pitchFamily="18" charset="0"/>
              </a:rPr>
              <a:t>• Discusses patterns: local caches, background sync, conflict resolution, and eventual consistency.</a:t>
            </a:r>
            <a:br>
              <a:rPr lang="en-IN" sz="2000" dirty="0">
                <a:latin typeface="Cambria" panose="02040503050406030204" pitchFamily="18" charset="0"/>
                <a:ea typeface="Cambria" panose="02040503050406030204" pitchFamily="18" charset="0"/>
              </a:rPr>
            </a:br>
            <a:r>
              <a:rPr lang="en-IN" sz="2000" dirty="0">
                <a:latin typeface="Cambria" panose="02040503050406030204" pitchFamily="18" charset="0"/>
                <a:ea typeface="Cambria" panose="02040503050406030204" pitchFamily="18" charset="0"/>
              </a:rPr>
              <a:t>• Presents real-world engineering trade-offs (storage, sync frequency, user UX).</a:t>
            </a:r>
            <a:br>
              <a:rPr lang="en-IN" sz="2000" dirty="0">
                <a:latin typeface="Cambria" panose="02040503050406030204" pitchFamily="18" charset="0"/>
                <a:ea typeface="Cambria" panose="02040503050406030204" pitchFamily="18" charset="0"/>
              </a:rPr>
            </a:br>
            <a:r>
              <a:rPr lang="en-IN" sz="2000" dirty="0">
                <a:latin typeface="Cambria" panose="02040503050406030204" pitchFamily="18" charset="0"/>
                <a:ea typeface="Cambria" panose="02040503050406030204" pitchFamily="18" charset="0"/>
              </a:rPr>
              <a:t>• Recommends selective data caching and user-visible sync status indicators.</a:t>
            </a:r>
          </a:p>
          <a:p>
            <a:endParaRPr lang="en-IN" sz="2000" dirty="0">
              <a:latin typeface="Cambria" panose="02040503050406030204" pitchFamily="18" charset="0"/>
              <a:ea typeface="Cambria" panose="02040503050406030204" pitchFamily="18" charset="0"/>
            </a:endParaRPr>
          </a:p>
          <a:p>
            <a:endParaRPr lang="en-IN" sz="2000" dirty="0">
              <a:latin typeface="Cambria" panose="02040503050406030204" pitchFamily="18" charset="0"/>
              <a:ea typeface="Cambria" panose="02040503050406030204" pitchFamily="18" charset="0"/>
            </a:endParaRPr>
          </a:p>
          <a:p>
            <a:r>
              <a:rPr lang="en-IN" sz="2000" b="1" dirty="0">
                <a:latin typeface="Cambria" panose="02040503050406030204" pitchFamily="18" charset="0"/>
                <a:ea typeface="Cambria" panose="02040503050406030204" pitchFamily="18" charset="0"/>
              </a:rPr>
              <a:t>Analysis:</a:t>
            </a:r>
          </a:p>
          <a:p>
            <a:r>
              <a:rPr lang="en-IN" sz="2000" dirty="0">
                <a:latin typeface="Cambria" panose="02040503050406030204" pitchFamily="18" charset="0"/>
                <a:ea typeface="Cambria" panose="02040503050406030204" pitchFamily="18" charset="0"/>
              </a:rPr>
              <a:t>• Strong evidence for implementing </a:t>
            </a:r>
            <a:r>
              <a:rPr lang="en-IN" sz="2000" dirty="0" err="1">
                <a:latin typeface="Cambria" panose="02040503050406030204" pitchFamily="18" charset="0"/>
                <a:ea typeface="Cambria" panose="02040503050406030204" pitchFamily="18" charset="0"/>
              </a:rPr>
              <a:t>JourneyBox</a:t>
            </a:r>
            <a:r>
              <a:rPr lang="en-IN" sz="2000" dirty="0">
                <a:latin typeface="Cambria" panose="02040503050406030204" pitchFamily="18" charset="0"/>
                <a:ea typeface="Cambria" panose="02040503050406030204" pitchFamily="18" charset="0"/>
              </a:rPr>
              <a:t> with local caching + cloud sync.</a:t>
            </a:r>
            <a:br>
              <a:rPr lang="en-IN" sz="2000" dirty="0">
                <a:latin typeface="Cambria" panose="02040503050406030204" pitchFamily="18" charset="0"/>
                <a:ea typeface="Cambria" panose="02040503050406030204" pitchFamily="18" charset="0"/>
              </a:rPr>
            </a:br>
            <a:r>
              <a:rPr lang="en-IN" sz="2000" dirty="0">
                <a:latin typeface="Cambria" panose="02040503050406030204" pitchFamily="18" charset="0"/>
                <a:ea typeface="Cambria" panose="02040503050406030204" pitchFamily="18" charset="0"/>
              </a:rPr>
              <a:t>• Guides choice of SQLite/Room for local store and best practices for conflict resolution.</a:t>
            </a:r>
            <a:br>
              <a:rPr lang="en-IN" sz="2000" dirty="0">
                <a:latin typeface="Cambria" panose="02040503050406030204" pitchFamily="18" charset="0"/>
                <a:ea typeface="Cambria" panose="02040503050406030204" pitchFamily="18" charset="0"/>
              </a:rPr>
            </a:br>
            <a:r>
              <a:rPr lang="en-IN" sz="2000" dirty="0">
                <a:latin typeface="Cambria" panose="02040503050406030204" pitchFamily="18" charset="0"/>
                <a:ea typeface="Cambria" panose="02040503050406030204" pitchFamily="18" charset="0"/>
              </a:rPr>
              <a:t>• Suggests UX improvements (sync indicators, manual refresh, conflict prompts).</a:t>
            </a:r>
          </a:p>
          <a:p>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242629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20FFC-9DB0-13E5-08EC-DFE31985D401}"/>
              </a:ext>
            </a:extLst>
          </p:cNvPr>
          <p:cNvSpPr>
            <a:spLocks noGrp="1"/>
          </p:cNvSpPr>
          <p:nvPr>
            <p:ph type="title"/>
          </p:nvPr>
        </p:nvSpPr>
        <p:spPr/>
        <p:txBody>
          <a:bodyPr/>
          <a:lstStyle/>
          <a:p>
            <a:r>
              <a:rPr lang="en-IN" dirty="0">
                <a:latin typeface="Cambria" panose="02040503050406030204" pitchFamily="18" charset="0"/>
                <a:ea typeface="Cambria" panose="02040503050406030204" pitchFamily="18" charset="0"/>
              </a:rPr>
              <a:t>Literature survey (paper 9)</a:t>
            </a:r>
          </a:p>
        </p:txBody>
      </p:sp>
      <p:sp>
        <p:nvSpPr>
          <p:cNvPr id="3" name="Text Placeholder 2">
            <a:extLst>
              <a:ext uri="{FF2B5EF4-FFF2-40B4-BE49-F238E27FC236}">
                <a16:creationId xmlns:a16="http://schemas.microsoft.com/office/drawing/2014/main" id="{CFF68446-D5FE-8A71-9856-F8391D098689}"/>
              </a:ext>
            </a:extLst>
          </p:cNvPr>
          <p:cNvSpPr>
            <a:spLocks noGrp="1"/>
          </p:cNvSpPr>
          <p:nvPr>
            <p:ph type="body" idx="1"/>
          </p:nvPr>
        </p:nvSpPr>
        <p:spPr>
          <a:xfrm>
            <a:off x="812800" y="1143001"/>
            <a:ext cx="10668000" cy="1020096"/>
          </a:xfrm>
        </p:spPr>
        <p:txBody>
          <a:bodyPr>
            <a:noAutofit/>
          </a:bodyPr>
          <a:lstStyle/>
          <a:p>
            <a:pPr marL="76200" indent="0">
              <a:buNone/>
            </a:pPr>
            <a:r>
              <a:rPr lang="en-US" sz="2000" b="1" dirty="0">
                <a:latin typeface="Cambria" panose="02040503050406030204" pitchFamily="18" charset="0"/>
                <a:ea typeface="Cambria" panose="02040503050406030204" pitchFamily="18" charset="0"/>
              </a:rPr>
              <a:t>Expense Tracking &amp; Group-Split Features in Mobile Apps (Applied Studies)</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Applied studies and reports (2023–2025) on mobile expense trackers, group-splitting UX and behavior change.</a:t>
            </a:r>
          </a:p>
          <a:p>
            <a:pPr marL="76200" indent="0">
              <a:buNone/>
            </a:pPr>
            <a:endParaRPr lang="en-IN" sz="2000" dirty="0">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58D3440E-589E-247B-C730-C67FA5B11598}"/>
              </a:ext>
            </a:extLst>
          </p:cNvPr>
          <p:cNvSpPr txBox="1"/>
          <p:nvPr/>
        </p:nvSpPr>
        <p:spPr>
          <a:xfrm>
            <a:off x="812800" y="2615380"/>
            <a:ext cx="10333704" cy="2862322"/>
          </a:xfrm>
          <a:prstGeom prst="rect">
            <a:avLst/>
          </a:prstGeom>
          <a:noFill/>
        </p:spPr>
        <p:txBody>
          <a:bodyPr wrap="square" numCol="2" rtlCol="0">
            <a:spAutoFit/>
          </a:bodyPr>
          <a:lstStyle/>
          <a:p>
            <a:r>
              <a:rPr lang="en-US" sz="2000" b="1" dirty="0">
                <a:latin typeface="Cambria" panose="02040503050406030204" pitchFamily="18" charset="0"/>
                <a:ea typeface="Cambria" panose="02040503050406030204" pitchFamily="18" charset="0"/>
              </a:rPr>
              <a:t>Review:</a:t>
            </a:r>
          </a:p>
          <a:p>
            <a:r>
              <a:rPr lang="en-US" sz="2000" dirty="0">
                <a:latin typeface="Cambria" panose="02040503050406030204" pitchFamily="18" charset="0"/>
                <a:ea typeface="Cambria" panose="02040503050406030204" pitchFamily="18" charset="0"/>
              </a:rPr>
              <a:t>• Shows that simple category-based tracking + receipt attachments increases adoption.</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Group-split features (per-person shares, settle-up flows) reduce friction in group trips.</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Visual analytics (charts, budget vs spend) improve user awareness.</a:t>
            </a:r>
          </a:p>
          <a:p>
            <a:endParaRPr lang="en-US" sz="2000" dirty="0">
              <a:latin typeface="Cambria" panose="02040503050406030204" pitchFamily="18" charset="0"/>
              <a:ea typeface="Cambria" panose="02040503050406030204" pitchFamily="18" charset="0"/>
            </a:endParaRPr>
          </a:p>
          <a:p>
            <a:endParaRPr lang="en-US" sz="2000" dirty="0">
              <a:latin typeface="Cambria" panose="02040503050406030204" pitchFamily="18" charset="0"/>
              <a:ea typeface="Cambria" panose="02040503050406030204" pitchFamily="18" charset="0"/>
            </a:endParaRPr>
          </a:p>
          <a:p>
            <a:r>
              <a:rPr lang="en-US" sz="2000" b="1" dirty="0">
                <a:latin typeface="Cambria" panose="02040503050406030204" pitchFamily="18" charset="0"/>
                <a:ea typeface="Cambria" panose="02040503050406030204" pitchFamily="18" charset="0"/>
              </a:rPr>
              <a:t>Analysis:</a:t>
            </a:r>
          </a:p>
          <a:p>
            <a:r>
              <a:rPr lang="en-US" sz="2000" dirty="0">
                <a:latin typeface="Cambria" panose="02040503050406030204" pitchFamily="18" charset="0"/>
                <a:ea typeface="Cambria" panose="02040503050406030204" pitchFamily="18" charset="0"/>
              </a:rPr>
              <a:t>• Validates JourneyBox’s Expense Module design (categories, receipts, split).</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Recommends fast add-flow (single-screen) and receipt OCR integration to lower friction.</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Suggests adding a “settle-up” export/report for group trips as a high-value feature.</a:t>
            </a:r>
          </a:p>
          <a:p>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148746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Technology Stack Components:</a:t>
            </a:r>
          </a:p>
          <a:p>
            <a:pPr marL="76200" indent="0">
              <a:buNone/>
            </a:pPr>
            <a:endParaRPr lang="en-US" dirty="0">
              <a:latin typeface="Cambria" panose="02040503050406030204" pitchFamily="18" charset="0"/>
              <a:ea typeface="Cambria" panose="02040503050406030204" pitchFamily="18" charset="0"/>
            </a:endParaRPr>
          </a:p>
          <a:p>
            <a:pPr marL="76200" indent="0">
              <a:buNone/>
            </a:pPr>
            <a:r>
              <a:rPr lang="en-IN" sz="1800" b="1" dirty="0">
                <a:latin typeface="Cambria" panose="02040503050406030204" pitchFamily="18" charset="0"/>
                <a:ea typeface="Cambria" panose="02040503050406030204" pitchFamily="18" charset="0"/>
              </a:rPr>
              <a:t>Mobile Application (Frontend)</a:t>
            </a:r>
          </a:p>
          <a:p>
            <a:r>
              <a:rPr lang="en-IN" sz="1800" dirty="0">
                <a:latin typeface="Cambria" panose="02040503050406030204" pitchFamily="18" charset="0"/>
                <a:ea typeface="Cambria" panose="02040503050406030204" pitchFamily="18" charset="0"/>
              </a:rPr>
              <a:t>Android Studio</a:t>
            </a:r>
          </a:p>
          <a:p>
            <a:r>
              <a:rPr lang="en-IN" sz="1800" dirty="0">
                <a:latin typeface="Cambria" panose="02040503050406030204" pitchFamily="18" charset="0"/>
                <a:ea typeface="Cambria" panose="02040503050406030204" pitchFamily="18" charset="0"/>
              </a:rPr>
              <a:t>Language: Java/Kotlin</a:t>
            </a:r>
          </a:p>
          <a:p>
            <a:r>
              <a:rPr lang="en-IN" sz="1800" dirty="0">
                <a:latin typeface="Cambria" panose="02040503050406030204" pitchFamily="18" charset="0"/>
                <a:ea typeface="Cambria" panose="02040503050406030204" pitchFamily="18" charset="0"/>
              </a:rPr>
              <a:t>UI: XML Layouts + Material Design Components</a:t>
            </a:r>
          </a:p>
          <a:p>
            <a:pPr marL="76200" indent="0">
              <a:buNone/>
            </a:pPr>
            <a:endParaRPr lang="en-IN" sz="1800" dirty="0">
              <a:latin typeface="Cambria" panose="02040503050406030204" pitchFamily="18" charset="0"/>
              <a:ea typeface="Cambria" panose="02040503050406030204" pitchFamily="18" charset="0"/>
            </a:endParaRPr>
          </a:p>
          <a:p>
            <a:pPr marL="76200" indent="0">
              <a:buNone/>
            </a:pPr>
            <a:r>
              <a:rPr lang="en-IN" sz="1800" b="1" dirty="0">
                <a:latin typeface="Cambria" panose="02040503050406030204" pitchFamily="18" charset="0"/>
                <a:ea typeface="Cambria" panose="02040503050406030204" pitchFamily="18" charset="0"/>
              </a:rPr>
              <a:t>Backend / API</a:t>
            </a:r>
          </a:p>
          <a:p>
            <a:r>
              <a:rPr lang="en-IN" sz="1800" dirty="0">
                <a:latin typeface="Cambria" panose="02040503050406030204" pitchFamily="18" charset="0"/>
                <a:ea typeface="Cambria" panose="02040503050406030204" pitchFamily="18" charset="0"/>
              </a:rPr>
              <a:t>Java</a:t>
            </a:r>
          </a:p>
          <a:p>
            <a:r>
              <a:rPr lang="en-IN" sz="1800" dirty="0">
                <a:latin typeface="Cambria" panose="02040503050406030204" pitchFamily="18" charset="0"/>
                <a:ea typeface="Cambria" panose="02040503050406030204" pitchFamily="18" charset="0"/>
              </a:rPr>
              <a:t>REST APIs</a:t>
            </a:r>
          </a:p>
          <a:p>
            <a:pPr marL="76200" indent="0">
              <a:buNone/>
            </a:pPr>
            <a:endParaRPr lang="en-IN" dirty="0"/>
          </a:p>
          <a:p>
            <a:pPr marL="76200" indent="0">
              <a:buNone/>
            </a:pPr>
            <a:r>
              <a:rPr lang="en-IN" sz="1800" b="1" dirty="0">
                <a:latin typeface="Cambria" panose="02040503050406030204" pitchFamily="18" charset="0"/>
                <a:ea typeface="Cambria" panose="02040503050406030204" pitchFamily="18" charset="0"/>
              </a:rPr>
              <a:t>Database</a:t>
            </a:r>
          </a:p>
          <a:p>
            <a:r>
              <a:rPr lang="en-IN" sz="1800" dirty="0">
                <a:latin typeface="Cambria" panose="02040503050406030204" pitchFamily="18" charset="0"/>
                <a:ea typeface="Cambria" panose="02040503050406030204" pitchFamily="18" charset="0"/>
              </a:rPr>
              <a:t>Firebase Firestore</a:t>
            </a:r>
            <a:endParaRPr lang="en-US" sz="18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Software Requirements: </a:t>
            </a:r>
          </a:p>
          <a:p>
            <a:pPr marL="76200" indent="0">
              <a:buNone/>
            </a:pPr>
            <a:endParaRPr lang="en-IN" sz="1800" dirty="0">
              <a:latin typeface="Cambria" panose="02040503050406030204" pitchFamily="18" charset="0"/>
              <a:ea typeface="Cambria" panose="02040503050406030204" pitchFamily="18" charset="0"/>
            </a:endParaRPr>
          </a:p>
          <a:p>
            <a:pPr marL="76200" indent="0">
              <a:buNone/>
            </a:pPr>
            <a:r>
              <a:rPr lang="en-IN" sz="1800" dirty="0">
                <a:latin typeface="Cambria" panose="02040503050406030204" pitchFamily="18" charset="0"/>
                <a:ea typeface="Cambria" panose="02040503050406030204" pitchFamily="18" charset="0"/>
              </a:rPr>
              <a:t>Software Requirements</a:t>
            </a:r>
          </a:p>
          <a:p>
            <a:pPr marL="76200" indent="0">
              <a:buNone/>
            </a:pPr>
            <a:endParaRPr lang="en-IN" sz="1800" dirty="0">
              <a:latin typeface="Cambria" panose="02040503050406030204" pitchFamily="18" charset="0"/>
              <a:ea typeface="Cambria" panose="02040503050406030204" pitchFamily="18" charset="0"/>
            </a:endParaRPr>
          </a:p>
          <a:p>
            <a:r>
              <a:rPr lang="en-IN" sz="1800" dirty="0">
                <a:latin typeface="Cambria" panose="02040503050406030204" pitchFamily="18" charset="0"/>
                <a:ea typeface="Cambria" panose="02040503050406030204" pitchFamily="18" charset="0"/>
              </a:rPr>
              <a:t>Android Studio</a:t>
            </a:r>
          </a:p>
          <a:p>
            <a:r>
              <a:rPr lang="en-IN" sz="1800" dirty="0">
                <a:latin typeface="Cambria" panose="02040503050406030204" pitchFamily="18" charset="0"/>
                <a:ea typeface="Cambria" panose="02040503050406030204" pitchFamily="18" charset="0"/>
              </a:rPr>
              <a:t>Java / Kotlin</a:t>
            </a:r>
          </a:p>
          <a:p>
            <a:r>
              <a:rPr lang="en-IN" sz="1800" dirty="0">
                <a:latin typeface="Cambria" panose="02040503050406030204" pitchFamily="18" charset="0"/>
                <a:ea typeface="Cambria" panose="02040503050406030204" pitchFamily="18" charset="0"/>
              </a:rPr>
              <a:t>Git &amp; GitHub</a:t>
            </a:r>
          </a:p>
          <a:p>
            <a:r>
              <a:rPr lang="en-IN" sz="1800" dirty="0">
                <a:latin typeface="Cambria" panose="02040503050406030204" pitchFamily="18" charset="0"/>
                <a:ea typeface="Cambria" panose="02040503050406030204" pitchFamily="18" charset="0"/>
              </a:rPr>
              <a:t>Postman (API testing)</a:t>
            </a:r>
          </a:p>
          <a:p>
            <a:r>
              <a:rPr lang="en-IN" sz="1800" dirty="0">
                <a:latin typeface="Cambria" panose="02040503050406030204" pitchFamily="18" charset="0"/>
                <a:ea typeface="Cambria" panose="02040503050406030204" pitchFamily="18" charset="0"/>
              </a:rPr>
              <a:t>Google Maps API</a:t>
            </a: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US" sz="1800" b="1" dirty="0">
                <a:latin typeface="Cambria" panose="02040503050406030204" pitchFamily="18" charset="0"/>
                <a:ea typeface="Cambria" panose="02040503050406030204" pitchFamily="18" charset="0"/>
              </a:rPr>
              <a:t>Key Challenges</a:t>
            </a:r>
          </a:p>
          <a:p>
            <a:pPr marL="76200" indent="0">
              <a:buNone/>
            </a:pPr>
            <a:endParaRPr lang="en-US" sz="1800" b="1" dirty="0">
              <a:latin typeface="Cambria" panose="02040503050406030204" pitchFamily="18" charset="0"/>
              <a:ea typeface="Cambria" panose="02040503050406030204" pitchFamily="18" charset="0"/>
            </a:endParaRPr>
          </a:p>
          <a:p>
            <a:r>
              <a:rPr lang="en-US" sz="1800" dirty="0">
                <a:latin typeface="Cambria" panose="02040503050406030204" pitchFamily="18" charset="0"/>
                <a:ea typeface="Cambria" panose="02040503050406030204" pitchFamily="18" charset="0"/>
              </a:rPr>
              <a:t>Trip details </a:t>
            </a:r>
            <a:r>
              <a:rPr lang="en-US" sz="1800">
                <a:latin typeface="Cambria" panose="02040503050406030204" pitchFamily="18" charset="0"/>
                <a:ea typeface="Cambria" panose="02040503050406030204" pitchFamily="18" charset="0"/>
              </a:rPr>
              <a:t>cloud implementation.</a:t>
            </a:r>
            <a:endParaRPr lang="en-US" sz="1800" dirty="0">
              <a:latin typeface="Cambria" panose="02040503050406030204" pitchFamily="18" charset="0"/>
              <a:ea typeface="Cambria" panose="02040503050406030204" pitchFamily="18" charset="0"/>
            </a:endParaRPr>
          </a:p>
          <a:p>
            <a:r>
              <a:rPr lang="en-US" sz="1800" dirty="0">
                <a:latin typeface="Cambria" panose="02040503050406030204" pitchFamily="18" charset="0"/>
                <a:ea typeface="Cambria" panose="02040503050406030204" pitchFamily="18" charset="0"/>
              </a:rPr>
              <a:t>Users face difficulty retrieving tickets, hotel details, and itinerary quickly.</a:t>
            </a:r>
          </a:p>
          <a:p>
            <a:r>
              <a:rPr lang="en-US" sz="1800" dirty="0">
                <a:latin typeface="Cambria" panose="02040503050406030204" pitchFamily="18" charset="0"/>
                <a:ea typeface="Cambria" panose="02040503050406030204" pitchFamily="18" charset="0"/>
              </a:rPr>
              <a:t>Lack of offline availability in low-network areas.</a:t>
            </a:r>
          </a:p>
          <a:p>
            <a:r>
              <a:rPr lang="en-US" sz="1800" dirty="0">
                <a:latin typeface="Cambria" panose="02040503050406030204" pitchFamily="18" charset="0"/>
                <a:ea typeface="Cambria" panose="02040503050406030204" pitchFamily="18" charset="0"/>
              </a:rPr>
              <a:t>No centralized system for trip budget &amp; expense tracking.</a:t>
            </a:r>
          </a:p>
          <a:p>
            <a:r>
              <a:rPr lang="en-US" sz="1800" dirty="0">
                <a:latin typeface="Cambria" panose="02040503050406030204" pitchFamily="18" charset="0"/>
                <a:ea typeface="Cambria" panose="02040503050406030204" pitchFamily="18" charset="0"/>
              </a:rPr>
              <a:t>Need for travel reminders and safety assistance</a:t>
            </a:r>
            <a:r>
              <a:rPr lang="en-US" sz="1800" dirty="0"/>
              <a:t>.</a:t>
            </a: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None/>
            </a:pPr>
            <a:r>
              <a:rPr lang="en-IN" dirty="0" err="1">
                <a:hlinkClick r:id="rId3"/>
              </a:rPr>
              <a:t>thejas</a:t>
            </a:r>
            <a:r>
              <a:rPr lang="en-IN" dirty="0">
                <a:hlinkClick r:id="rId3"/>
              </a:rPr>
              <a:t>-c/</a:t>
            </a:r>
            <a:r>
              <a:rPr lang="en-IN" dirty="0" err="1">
                <a:hlinkClick r:id="rId3"/>
              </a:rPr>
              <a:t>JourneyBox</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A8739732-095A-23B2-21BE-FAA2066CB05B}"/>
              </a:ext>
            </a:extLst>
          </p:cNvPr>
          <p:cNvPicPr>
            <a:picLocks noChangeAspect="1"/>
          </p:cNvPicPr>
          <p:nvPr/>
        </p:nvPicPr>
        <p:blipFill>
          <a:blip r:embed="rId3"/>
          <a:stretch>
            <a:fillRect/>
          </a:stretch>
        </p:blipFill>
        <p:spPr>
          <a:xfrm>
            <a:off x="1838633" y="1730840"/>
            <a:ext cx="7440561" cy="373061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4798902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r>
              <a:rPr lang="en-US" sz="2000" dirty="0">
                <a:latin typeface="Cambria" panose="02040503050406030204" pitchFamily="18" charset="0"/>
                <a:ea typeface="Cambria" panose="02040503050406030204" pitchFamily="18" charset="0"/>
              </a:rPr>
              <a:t>[1] A. Dickinson, K. Ghali, M. </a:t>
            </a:r>
            <a:r>
              <a:rPr lang="en-US" sz="2000" dirty="0" err="1">
                <a:latin typeface="Cambria" panose="02040503050406030204" pitchFamily="18" charset="0"/>
                <a:ea typeface="Cambria" panose="02040503050406030204" pitchFamily="18" charset="0"/>
              </a:rPr>
              <a:t>Cherrett</a:t>
            </a:r>
            <a:r>
              <a:rPr lang="en-US" sz="2000" dirty="0">
                <a:latin typeface="Cambria" panose="02040503050406030204" pitchFamily="18" charset="0"/>
                <a:ea typeface="Cambria" panose="02040503050406030204" pitchFamily="18" charset="0"/>
              </a:rPr>
              <a:t>, J. Speed, N. Davies, and C. Norgate, “Tourism and the Smartphone App: Capabilities, Emerging Practice and Scope in the Travel Domain, Current Issues in Tourism, vol. 17, no. 1, pp. 84101, 2014. </a:t>
            </a:r>
          </a:p>
          <a:p>
            <a:r>
              <a:rPr lang="en-US" sz="2000" dirty="0">
                <a:latin typeface="Cambria" panose="02040503050406030204" pitchFamily="18" charset="0"/>
                <a:ea typeface="Cambria" panose="02040503050406030204" pitchFamily="18" charset="0"/>
              </a:rPr>
              <a:t>[2] D. A. </a:t>
            </a:r>
            <a:r>
              <a:rPr lang="en-US" sz="2000" dirty="0" err="1">
                <a:latin typeface="Cambria" panose="02040503050406030204" pitchFamily="18" charset="0"/>
                <a:ea typeface="Cambria" panose="02040503050406030204" pitchFamily="18" charset="0"/>
              </a:rPr>
              <a:t>Amaranggana</a:t>
            </a:r>
            <a:r>
              <a:rPr lang="en-US" sz="2000" dirty="0">
                <a:latin typeface="Cambria" panose="02040503050406030204" pitchFamily="18" charset="0"/>
                <a:ea typeface="Cambria" panose="02040503050406030204" pitchFamily="18" charset="0"/>
              </a:rPr>
              <a:t> and </a:t>
            </a:r>
            <a:r>
              <a:rPr lang="en-US" sz="2000" dirty="0" err="1">
                <a:latin typeface="Cambria" panose="02040503050406030204" pitchFamily="18" charset="0"/>
                <a:ea typeface="Cambria" panose="02040503050406030204" pitchFamily="18" charset="0"/>
              </a:rPr>
              <a:t>Buhalis</a:t>
            </a:r>
            <a:r>
              <a:rPr lang="en-US" sz="2000" dirty="0">
                <a:latin typeface="Cambria" panose="02040503050406030204" pitchFamily="18" charset="0"/>
                <a:ea typeface="Cambria" panose="02040503050406030204" pitchFamily="18" charset="0"/>
              </a:rPr>
              <a:t>, Smart Tourism Destinations: Improving Tourism Experience using </a:t>
            </a:r>
            <a:r>
              <a:rPr lang="en-US" sz="2000" dirty="0" err="1">
                <a:latin typeface="Cambria" panose="02040503050406030204" pitchFamily="18" charset="0"/>
                <a:ea typeface="Cambria" panose="02040503050406030204" pitchFamily="18" charset="0"/>
              </a:rPr>
              <a:t>Personalisation</a:t>
            </a:r>
            <a:r>
              <a:rPr lang="en-US" sz="2000" dirty="0">
                <a:latin typeface="Cambria" panose="02040503050406030204" pitchFamily="18" charset="0"/>
                <a:ea typeface="Cambria" panose="02040503050406030204" pitchFamily="18" charset="0"/>
              </a:rPr>
              <a:t> of Services, in Proc. International Conference on Information and Communication Technologies in Tourism, 2015. </a:t>
            </a:r>
          </a:p>
          <a:p>
            <a:r>
              <a:rPr lang="en-US" sz="2000" dirty="0">
                <a:latin typeface="Cambria" panose="02040503050406030204" pitchFamily="18" charset="0"/>
                <a:ea typeface="Cambria" panose="02040503050406030204" pitchFamily="18" charset="0"/>
              </a:rPr>
              <a:t>[3] M. </a:t>
            </a:r>
            <a:r>
              <a:rPr lang="en-US" sz="2000" dirty="0" err="1">
                <a:latin typeface="Cambria" panose="02040503050406030204" pitchFamily="18" charset="0"/>
                <a:ea typeface="Cambria" panose="02040503050406030204" pitchFamily="18" charset="0"/>
              </a:rPr>
              <a:t>Tussyadiah</a:t>
            </a:r>
            <a:r>
              <a:rPr lang="en-US" sz="2000" dirty="0">
                <a:latin typeface="Cambria" panose="02040503050406030204" pitchFamily="18" charset="0"/>
                <a:ea typeface="Cambria" panose="02040503050406030204" pitchFamily="18" charset="0"/>
              </a:rPr>
              <a:t> and D. Wang, Tourists Adoption of Mobile Application: Motivation, Satisfaction and </a:t>
            </a:r>
            <a:r>
              <a:rPr lang="en-US" sz="2000" dirty="0" err="1">
                <a:latin typeface="Cambria" panose="02040503050406030204" pitchFamily="18" charset="0"/>
                <a:ea typeface="Cambria" panose="02040503050406030204" pitchFamily="18" charset="0"/>
              </a:rPr>
              <a:t>Behavioural</a:t>
            </a:r>
            <a:r>
              <a:rPr lang="en-US" sz="2000" dirty="0">
                <a:latin typeface="Cambria" panose="02040503050406030204" pitchFamily="18" charset="0"/>
                <a:ea typeface="Cambria" panose="02040503050406030204" pitchFamily="18" charset="0"/>
              </a:rPr>
              <a:t> Intention, Journal of Travel Research, vol. 55, no. 8, 2016. </a:t>
            </a:r>
          </a:p>
          <a:p>
            <a:r>
              <a:rPr lang="en-US" sz="2000" dirty="0">
                <a:latin typeface="Cambria" panose="02040503050406030204" pitchFamily="18" charset="0"/>
                <a:ea typeface="Cambria" panose="02040503050406030204" pitchFamily="18" charset="0"/>
              </a:rPr>
              <a:t>[4] P. Kaur and S. Sharma, A Smart Travel Planner Application with the Mobile Computing, in Proc. International Conference on Intelligent Communication and Computational Techniques (ICCT) 2018. </a:t>
            </a:r>
          </a:p>
          <a:p>
            <a:r>
              <a:rPr lang="en-US" sz="2000" dirty="0">
                <a:latin typeface="Cambria" panose="02040503050406030204" pitchFamily="18" charset="0"/>
                <a:ea typeface="Cambria" panose="02040503050406030204" pitchFamily="18" charset="0"/>
              </a:rPr>
              <a:t>[5] X. Y. Zheng, K. H. Lim, and J. Yang, Mobile Travel Applications and their effects on tourist experience: A review, Tourism Management Perspectives, vol. 35, pp.100-110, 2020. </a:t>
            </a:r>
          </a:p>
          <a:p>
            <a:pPr marL="152400" indent="0">
              <a:spcBef>
                <a:spcPts val="0"/>
              </a:spcBef>
              <a:buNone/>
            </a:pPr>
            <a:endParaRPr sz="2000" dirty="0">
              <a:latin typeface="Cambria" panose="02040503050406030204" pitchFamily="18" charset="0"/>
              <a:ea typeface="Cambria" panose="020405030504060302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C5D20-A199-2445-EC75-3687CF36BF19}"/>
              </a:ext>
            </a:extLst>
          </p:cNvPr>
          <p:cNvSpPr>
            <a:spLocks noGrp="1"/>
          </p:cNvSpPr>
          <p:nvPr>
            <p:ph type="title"/>
          </p:nvPr>
        </p:nvSpPr>
        <p:spPr/>
        <p:txBody>
          <a:bodyPr/>
          <a:lstStyle/>
          <a:p>
            <a:r>
              <a:rPr lang="en-GB" dirty="0">
                <a:latin typeface="Cambria" panose="02040503050406030204" pitchFamily="18" charset="0"/>
                <a:ea typeface="Cambria" panose="02040503050406030204" pitchFamily="18" charset="0"/>
              </a:rPr>
              <a:t>References</a:t>
            </a:r>
            <a:endParaRPr lang="en-IN" dirty="0"/>
          </a:p>
        </p:txBody>
      </p:sp>
      <p:sp>
        <p:nvSpPr>
          <p:cNvPr id="3" name="Text Placeholder 2">
            <a:extLst>
              <a:ext uri="{FF2B5EF4-FFF2-40B4-BE49-F238E27FC236}">
                <a16:creationId xmlns:a16="http://schemas.microsoft.com/office/drawing/2014/main" id="{72F68697-8E8C-77A3-1C83-EC1885B37BAC}"/>
              </a:ext>
            </a:extLst>
          </p:cNvPr>
          <p:cNvSpPr>
            <a:spLocks noGrp="1"/>
          </p:cNvSpPr>
          <p:nvPr>
            <p:ph type="body" idx="1"/>
          </p:nvPr>
        </p:nvSpPr>
        <p:spPr/>
        <p:txBody>
          <a:bodyPr>
            <a:normAutofit fontScale="92500" lnSpcReduction="10000"/>
          </a:bodyPr>
          <a:lstStyle/>
          <a:p>
            <a:r>
              <a:rPr lang="en-US" dirty="0">
                <a:latin typeface="Cambria" panose="02040503050406030204" pitchFamily="18" charset="0"/>
                <a:ea typeface="Cambria" panose="02040503050406030204" pitchFamily="18" charset="0"/>
              </a:rPr>
              <a:t>[6] Ahmed Alsharif et al., systematics review I: Smart Tourism, Hospitality, and Destination: A Systematic Review and Future Direction Systematic Review (Scopus SLR, accepted 2024) — 2013 to Nov 2023. </a:t>
            </a:r>
          </a:p>
          <a:p>
            <a:r>
              <a:rPr lang="en-US" dirty="0">
                <a:latin typeface="Cambria" panose="02040503050406030204" pitchFamily="18" charset="0"/>
                <a:ea typeface="Cambria" panose="02040503050406030204" pitchFamily="18" charset="0"/>
              </a:rPr>
              <a:t>[7] Google Developers, “ML Kit Text Recognition v2," Google, 2024 — on-screen OCR that can be used in mobile apps (can be helpful in extracting tickets/receipts). </a:t>
            </a:r>
          </a:p>
          <a:p>
            <a:r>
              <a:rPr lang="en-IN" dirty="0">
                <a:latin typeface="Cambria" panose="02040503050406030204" pitchFamily="18" charset="0"/>
                <a:ea typeface="Cambria" panose="02040503050406030204" pitchFamily="18" charset="0"/>
              </a:rPr>
              <a:t>[8] Y. Y. Yap, “Smart Tourism, Technologies and Tourist Satisfaction,” Journal/ScienceDirect, 2025 — the literature on tourist satisfaction and smart tourism technologies. </a:t>
            </a:r>
          </a:p>
          <a:p>
            <a:r>
              <a:rPr lang="en-US" dirty="0">
                <a:latin typeface="Cambria" panose="02040503050406030204" pitchFamily="18" charset="0"/>
                <a:ea typeface="Cambria" panose="02040503050406030204" pitchFamily="18" charset="0"/>
              </a:rPr>
              <a:t>[9] (Offline-first mobile architecture direction) “Local caching and sync patterns in Android Offline-First Architectures Implementation” / engineering papers and preprints (2024-25) - advice on the patterns of local caching and syncing of mobile applications. </a:t>
            </a:r>
          </a:p>
          <a:p>
            <a:r>
              <a:rPr lang="en-US" dirty="0">
                <a:latin typeface="Cambria" panose="02040503050406030204" pitchFamily="18" charset="0"/>
                <a:ea typeface="Cambria" panose="02040503050406030204" pitchFamily="18" charset="0"/>
              </a:rPr>
              <a:t>[10] IJNRD / IJSRET / IJPREMS published studies (2024-2025) on expense-tracker mobile applications and implementations practical implementations and UX results on the expense tracking in mobile settings </a:t>
            </a:r>
            <a:r>
              <a:rPr lang="en-IN" dirty="0">
                <a:latin typeface="Cambria" panose="02040503050406030204" pitchFamily="18" charset="0"/>
                <a:ea typeface="Cambria" panose="02040503050406030204" pitchFamily="18" charset="0"/>
              </a:rPr>
              <a:t>.</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5896881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346</TotalTime>
  <Words>1976</Words>
  <Application>Microsoft Office PowerPoint</Application>
  <PresentationFormat>Widescreen</PresentationFormat>
  <Paragraphs>178</Paragraphs>
  <Slides>21</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Bookman Old Style</vt:lpstr>
      <vt:lpstr>Calibri</vt:lpstr>
      <vt:lpstr>Cambria</vt:lpstr>
      <vt:lpstr>Verdana</vt:lpstr>
      <vt:lpstr>Wingdings</vt:lpstr>
      <vt:lpstr>Bioinformatics</vt:lpstr>
      <vt:lpstr>JourneyBox – Smart Travel Companion App</vt:lpstr>
      <vt:lpstr>Content</vt:lpstr>
      <vt:lpstr>Problem Statement Number: SIH25082</vt:lpstr>
      <vt:lpstr>Objectives</vt:lpstr>
      <vt:lpstr>Literature Survey (Paper 1)</vt:lpstr>
      <vt:lpstr>Literature Survey (Paper 2)</vt:lpstr>
      <vt:lpstr>Literature Survey (Paper 3)</vt:lpstr>
      <vt:lpstr>Literature Survey (Paper 4 )</vt:lpstr>
      <vt:lpstr>Literature Survey (Paper 5)</vt:lpstr>
      <vt:lpstr>Literature survey (paper 6)</vt:lpstr>
      <vt:lpstr>Literature survey (paper 7)</vt:lpstr>
      <vt:lpstr>Literature survey (paper 8)</vt:lpstr>
      <vt:lpstr>Literature survey (paper 9)</vt:lpstr>
      <vt:lpstr>Analysis of Problem Statement</vt:lpstr>
      <vt:lpstr>Analysis of Problem Statement (contd...)</vt:lpstr>
      <vt:lpstr>Analysis of Problem Statement (contd...)</vt:lpstr>
      <vt:lpstr>Github Link</vt:lpstr>
      <vt:lpstr>Timeline of the Project (Gantt Chart)</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Thejas C</cp:lastModifiedBy>
  <cp:revision>49</cp:revision>
  <dcterms:modified xsi:type="dcterms:W3CDTF">2026-03-02T09:28:31Z</dcterms:modified>
</cp:coreProperties>
</file>