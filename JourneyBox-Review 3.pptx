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69" r:id="rId4"/>
    <p:sldId id="274" r:id="rId5"/>
    <p:sldId id="273" r:id="rId6"/>
    <p:sldId id="272" r:id="rId7"/>
    <p:sldId id="271" r:id="rId8"/>
    <p:sldId id="268" r:id="rId9"/>
    <p:sldId id="270" r:id="rId10"/>
    <p:sldId id="265" r:id="rId11"/>
    <p:sldId id="286"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CEC601F7-1234-492B-8A69-CAFB0DEE4ACA}">
          <p14:sldIdLst>
            <p14:sldId id="256"/>
            <p14:sldId id="257"/>
            <p14:sldId id="269"/>
            <p14:sldId id="274"/>
            <p14:sldId id="273"/>
            <p14:sldId id="272"/>
            <p14:sldId id="271"/>
            <p14:sldId id="268"/>
            <p14:sldId id="270"/>
            <p14:sldId id="265"/>
            <p14:sldId id="286"/>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94210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thejas-c/JourneyBox"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sz="2400" dirty="0">
                <a:solidFill>
                  <a:schemeClr val="tx1"/>
                </a:solidFill>
                <a:latin typeface="Cambria" panose="02040503050406030204" pitchFamily="18" charset="0"/>
                <a:ea typeface="Cambria" panose="02040503050406030204" pitchFamily="18" charset="0"/>
              </a:rPr>
              <a:t>JourneyBox – Smart Travel Companion App</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a:t>
            </a:r>
            <a:r>
              <a:rPr lang="en-GB" sz="1800" dirty="0">
                <a:solidFill>
                  <a:schemeClr val="tx1"/>
                </a:solidFill>
                <a:latin typeface="Bookman Old Style" panose="02050604050505020204" pitchFamily="18" charset="0"/>
                <a:ea typeface="Cambria" panose="02040503050406030204" pitchFamily="18" charset="0"/>
              </a:rPr>
              <a:t>CSE_164</a:t>
            </a:r>
            <a:endParaRPr sz="1800" dirty="0">
              <a:latin typeface="Cambria" panose="02040503050406030204" pitchFamily="18" charset="0"/>
              <a:ea typeface="Cambria" panose="02040503050406030204" pitchFamily="18" charset="0"/>
            </a:endParaRPr>
          </a:p>
        </p:txBody>
      </p:sp>
      <p:sp>
        <p:nvSpPr>
          <p:cNvPr id="91" name="Google Shape;91;p13"/>
          <p:cNvSpPr txBox="1"/>
          <p:nvPr/>
        </p:nvSpPr>
        <p:spPr>
          <a:xfrm>
            <a:off x="3222582" y="152289"/>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703743"/>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tx1"/>
                </a:solidFill>
                <a:latin typeface="Cambria" panose="02040503050406030204" pitchFamily="18" charset="0"/>
                <a:ea typeface="Cambria" panose="02040503050406030204" pitchFamily="18" charset="0"/>
                <a:cs typeface="Verdana"/>
                <a:sym typeface="Verdana"/>
              </a:rPr>
              <a:t>CSE7302-University Project</a:t>
            </a:r>
            <a:endPar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cs typeface="Verdana"/>
                <a:sym typeface="Verdana"/>
              </a:rPr>
              <a:t>Dr. Blessed Prince</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err="1">
                <a:solidFill>
                  <a:schemeClr val="tx1"/>
                </a:solidFill>
                <a:latin typeface="Cambria" panose="02040503050406030204" pitchFamily="18" charset="0"/>
                <a:ea typeface="Cambria" panose="02040503050406030204" pitchFamily="18" charset="0"/>
                <a:cs typeface="Verdana"/>
                <a:sym typeface="Verdana"/>
              </a:rPr>
              <a:t>Mr.Muthuraju</a:t>
            </a:r>
            <a:r>
              <a:rPr lang="en-US" sz="1800" b="1" dirty="0">
                <a:solidFill>
                  <a:schemeClr val="tx1"/>
                </a:solidFill>
                <a:latin typeface="Cambria" panose="02040503050406030204" pitchFamily="18" charset="0"/>
                <a:ea typeface="Cambria" panose="02040503050406030204" pitchFamily="18" charset="0"/>
                <a:cs typeface="Verdana"/>
                <a:sym typeface="Verdana"/>
              </a:rPr>
              <a:t> V</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C9300913-CE83-E6D2-8220-EEF0E6A7D4BE}"/>
              </a:ext>
            </a:extLst>
          </p:cNvPr>
          <p:cNvGraphicFramePr>
            <a:graphicFrameLocks noGrp="1"/>
          </p:cNvGraphicFramePr>
          <p:nvPr>
            <p:extLst>
              <p:ext uri="{D42A27DB-BD31-4B8C-83A1-F6EECF244321}">
                <p14:modId xmlns:p14="http://schemas.microsoft.com/office/powerpoint/2010/main" val="1213287067"/>
              </p:ext>
            </p:extLst>
          </p:nvPr>
        </p:nvGraphicFramePr>
        <p:xfrm>
          <a:off x="744133" y="2631381"/>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3320247729"/>
                    </a:ext>
                  </a:extLst>
                </a:gridCol>
                <a:gridCol w="3333675">
                  <a:extLst>
                    <a:ext uri="{9D8B030D-6E8A-4147-A177-3AD203B41FA5}">
                      <a16:colId xmlns:a16="http://schemas.microsoft.com/office/drawing/2014/main" val="3268712058"/>
                    </a:ext>
                  </a:extLst>
                </a:gridCol>
              </a:tblGrid>
              <a:tr h="293747">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149855435"/>
                  </a:ext>
                </a:extLst>
              </a:tr>
              <a:tr h="293747">
                <a:tc>
                  <a:txBody>
                    <a:bodyPr/>
                    <a:lstStyle/>
                    <a:p>
                      <a:pPr marL="0" marR="0" lvl="0" indent="0" algn="ctr" rtl="0">
                        <a:spcBef>
                          <a:spcPts val="0"/>
                        </a:spcBef>
                        <a:spcAft>
                          <a:spcPts val="0"/>
                        </a:spcAft>
                        <a:buFont typeface="+mj-lt"/>
                        <a:buNone/>
                      </a:pPr>
                      <a:r>
                        <a:rPr lang="en-IN" sz="1800" u="none" strike="noStrike" cap="none" dirty="0"/>
                        <a:t>20221CSE0626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THEJAS C</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3781393000"/>
                  </a:ext>
                </a:extLst>
              </a:tr>
              <a:tr h="293747">
                <a:tc>
                  <a:txBody>
                    <a:bodyPr/>
                    <a:lstStyle/>
                    <a:p>
                      <a:pPr marL="0" marR="0" lvl="0" indent="0" algn="ctr" rtl="0">
                        <a:spcBef>
                          <a:spcPts val="0"/>
                        </a:spcBef>
                        <a:spcAft>
                          <a:spcPts val="0"/>
                        </a:spcAft>
                        <a:buNone/>
                      </a:pPr>
                      <a:r>
                        <a:rPr lang="en-IN" sz="1800" u="none" strike="noStrike" cap="none" dirty="0"/>
                        <a:t>20221CSE0624</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T M TEJASHWINI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219961331"/>
                  </a:ext>
                </a:extLst>
              </a:tr>
              <a:tr h="293747">
                <a:tc>
                  <a:txBody>
                    <a:bodyPr/>
                    <a:lstStyle/>
                    <a:p>
                      <a:pPr marL="0" marR="0" lvl="0" indent="0" algn="ctr" rtl="0">
                        <a:spcBef>
                          <a:spcPts val="0"/>
                        </a:spcBef>
                        <a:spcAft>
                          <a:spcPts val="0"/>
                        </a:spcAft>
                        <a:buNone/>
                      </a:pPr>
                      <a:r>
                        <a:rPr lang="en-IN" sz="1800" u="none" strike="noStrike" cap="none" dirty="0"/>
                        <a:t>20221CSE0628</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VINAY K HIREMATH</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400874960"/>
                  </a:ext>
                </a:extLst>
              </a:tr>
              <a:tr h="29374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864048743"/>
                  </a:ext>
                </a:extLst>
              </a:tr>
              <a:tr h="29374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2996905173"/>
                  </a:ext>
                </a:extLst>
              </a:tr>
            </a:tbl>
          </a:graphicData>
        </a:graphic>
      </p:graphicFrame>
      <p:sp>
        <p:nvSpPr>
          <p:cNvPr id="4" name="TextBox 3">
            <a:extLst>
              <a:ext uri="{FF2B5EF4-FFF2-40B4-BE49-F238E27FC236}">
                <a16:creationId xmlns:a16="http://schemas.microsoft.com/office/drawing/2014/main" id="{46149209-34A7-B777-D590-E7D62FB7F7E2}"/>
              </a:ext>
            </a:extLst>
          </p:cNvPr>
          <p:cNvSpPr txBox="1"/>
          <p:nvPr/>
        </p:nvSpPr>
        <p:spPr>
          <a:xfrm>
            <a:off x="5893580" y="2321502"/>
            <a:ext cx="6150076" cy="2072362"/>
          </a:xfrm>
          <a:prstGeom prst="rect">
            <a:avLst/>
          </a:prstGeom>
          <a:noFill/>
        </p:spPr>
        <p:txBody>
          <a:bodyPr wrap="square">
            <a:spAutoFit/>
          </a:bodyPr>
          <a:lstStyle/>
          <a:p>
            <a:pPr marL="0" marR="0" lvl="0" indent="0" algn="ctr" rtl="0">
              <a:spcBef>
                <a:spcPts val="0"/>
              </a:spcBef>
              <a:spcAft>
                <a:spcPts val="0"/>
              </a:spcAft>
              <a:buClr>
                <a:srgbClr val="17365D"/>
              </a:buClr>
              <a:buSzPts val="2000"/>
              <a:buFont typeface="Arial"/>
              <a:buNone/>
            </a:pPr>
            <a:r>
              <a:rPr lang="en-US" sz="16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US" sz="16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lang="en-US" sz="16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lgn="ctr">
              <a:spcBef>
                <a:spcPts val="340"/>
              </a:spcBef>
              <a:buClr>
                <a:srgbClr val="17365D"/>
              </a:buClr>
              <a:buSzPts val="1700"/>
            </a:pPr>
            <a:r>
              <a:rPr lang="en-US" sz="1600" b="1" dirty="0">
                <a:solidFill>
                  <a:schemeClr val="tx1"/>
                </a:solidFill>
                <a:latin typeface="Cambria" panose="02040503050406030204" pitchFamily="18" charset="0"/>
                <a:ea typeface="Cambria" panose="02040503050406030204" pitchFamily="18" charset="0"/>
                <a:cs typeface="Verdana"/>
                <a:sym typeface="Verdana"/>
              </a:rPr>
              <a:t>Ms.Delsy Jyothi </a:t>
            </a:r>
          </a:p>
          <a:p>
            <a:pPr lvl="0" algn="ctr">
              <a:spcBef>
                <a:spcPts val="340"/>
              </a:spcBef>
              <a:buClr>
                <a:srgbClr val="17365D"/>
              </a:buClr>
              <a:buSzPts val="1700"/>
            </a:pPr>
            <a:r>
              <a:rPr lang="en-GB" sz="1600" b="1" dirty="0">
                <a:solidFill>
                  <a:srgbClr val="17365D"/>
                </a:solidFill>
                <a:latin typeface="Cambria" panose="02040503050406030204" pitchFamily="18" charset="0"/>
                <a:ea typeface="Cambria" panose="02040503050406030204" pitchFamily="18" charset="0"/>
                <a:cs typeface="Verdana"/>
                <a:sym typeface="Verdana"/>
              </a:rPr>
              <a:t>Assistant Professor</a:t>
            </a:r>
            <a:endParaRPr lang="en-GB" sz="1600"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US" sz="1600" b="1" i="0" u="none" strike="noStrike" cap="none" dirty="0">
                <a:solidFill>
                  <a:schemeClr val="tx1"/>
                </a:solidFill>
                <a:latin typeface="Cambria" panose="02040503050406030204" pitchFamily="18" charset="0"/>
                <a:ea typeface="Cambria" panose="02040503050406030204" pitchFamily="18" charset="0"/>
                <a:cs typeface="Verdana"/>
                <a:sym typeface="Verdana"/>
              </a:rPr>
              <a:t>School of Computer Science and Engineering</a:t>
            </a:r>
            <a:endParaRPr lang="en-US" sz="1600" dirty="0">
              <a:solidFill>
                <a:schemeClr val="tx1"/>
              </a:solidFill>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US" sz="1600" b="1" i="0" u="none" strike="noStrike" cap="none" dirty="0">
                <a:solidFill>
                  <a:schemeClr val="tx1"/>
                </a:solidFill>
                <a:latin typeface="Cambria" panose="02040503050406030204" pitchFamily="18" charset="0"/>
                <a:ea typeface="Cambria" panose="02040503050406030204" pitchFamily="18" charset="0"/>
                <a:cs typeface="Verdana"/>
                <a:sym typeface="Verdana"/>
              </a:rPr>
              <a:t>Presidency University</a:t>
            </a:r>
            <a:endParaRPr lang="en-US" sz="1600" dirty="0">
              <a:solidFill>
                <a:schemeClr val="tx1"/>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lang="en-US" sz="16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75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Bookman Old Style" panose="02050604050505020204" pitchFamily="18" charset="0"/>
                <a:ea typeface="Cambria" panose="02040503050406030204" pitchFamily="18" charset="0"/>
              </a:rPr>
              <a:t>Literature survey</a:t>
            </a: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r>
              <a:rPr lang="en-GB" dirty="0">
                <a:solidFill>
                  <a:schemeClr val="tx1"/>
                </a:solidFill>
                <a:latin typeface="Cambria" panose="02040503050406030204" pitchFamily="18" charset="0"/>
                <a:ea typeface="Cambria" panose="02040503050406030204" pitchFamily="18" charset="0"/>
              </a:rPr>
              <a:t>SIH25082</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Government of Kerala</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 </a:t>
            </a:r>
            <a:r>
              <a:rPr lang="en-US" dirty="0">
                <a:solidFill>
                  <a:schemeClr val="tx1"/>
                </a:solidFill>
                <a:latin typeface="Cambria" panose="02040503050406030204" pitchFamily="18" charset="0"/>
                <a:ea typeface="Cambria" panose="02040503050406030204" pitchFamily="18" charset="0"/>
              </a:rPr>
              <a:t>Software</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a:t>
            </a:r>
          </a:p>
          <a:p>
            <a:pPr marL="533400" lvl="1" indent="0" algn="just">
              <a:buNone/>
            </a:pPr>
            <a:r>
              <a:rPr lang="en-US" dirty="0">
                <a:latin typeface="Calibri" panose="020F0502020204030204" pitchFamily="34" charset="0"/>
                <a:ea typeface="Calibri" panose="020F0502020204030204" pitchFamily="34" charset="0"/>
                <a:cs typeface="Calibri" panose="020F0502020204030204" pitchFamily="34" charset="0"/>
              </a:rPr>
              <a:t>Travelers often struggle to manage and access trip-related information such as itinerary, booking details, travel documents, expenses, and emergency contacts. This information is usually scattered across messages, emails, screenshots, and different apps, making it difficult to retrieve at the right time.</a:t>
            </a:r>
          </a:p>
          <a:p>
            <a:pPr marL="533400" lvl="1" indent="0" algn="just">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533400" lvl="1" indent="0" algn="just">
              <a:buNone/>
            </a:pPr>
            <a:r>
              <a:rPr lang="en-US" dirty="0">
                <a:latin typeface="Calibri" panose="020F0502020204030204" pitchFamily="34" charset="0"/>
                <a:ea typeface="Calibri" panose="020F0502020204030204" pitchFamily="34" charset="0"/>
                <a:cs typeface="Calibri" panose="020F0502020204030204" pitchFamily="34" charset="0"/>
              </a:rPr>
              <a:t>There is a need for a mobile travel application that can be installed on smartphones to capture, store, and organize trip-related data, provide real-time assistance during the trip (reminders, navigation support, offline access), and improve overall travel convenience, safety, and trip management efficiency.</a:t>
            </a: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55F22-7106-ADA3-BB88-89261C5F33A2}"/>
              </a:ext>
            </a:extLst>
          </p:cNvPr>
          <p:cNvSpPr>
            <a:spLocks noGrp="1"/>
          </p:cNvSpPr>
          <p:nvPr>
            <p:ph type="title"/>
          </p:nvPr>
        </p:nvSpPr>
        <p:spPr/>
        <p:txBody>
          <a:bodyPr/>
          <a:lstStyle/>
          <a:p>
            <a:r>
              <a:rPr lang="en-US" dirty="0"/>
              <a:t>Objectives</a:t>
            </a:r>
            <a:endParaRPr lang="en-IN" dirty="0"/>
          </a:p>
        </p:txBody>
      </p:sp>
      <p:sp>
        <p:nvSpPr>
          <p:cNvPr id="3" name="Text Placeholder 2">
            <a:extLst>
              <a:ext uri="{FF2B5EF4-FFF2-40B4-BE49-F238E27FC236}">
                <a16:creationId xmlns:a16="http://schemas.microsoft.com/office/drawing/2014/main" id="{DC0752F4-8D75-D8F3-6E5C-E95FBD8A4C55}"/>
              </a:ext>
            </a:extLst>
          </p:cNvPr>
          <p:cNvSpPr>
            <a:spLocks noGrp="1"/>
          </p:cNvSpPr>
          <p:nvPr>
            <p:ph type="body" idx="1"/>
          </p:nvPr>
        </p:nvSpPr>
        <p:spPr/>
        <p:txBody>
          <a:bodyPr>
            <a:normAutofit/>
          </a:bodyPr>
          <a:lstStyle/>
          <a:p>
            <a:r>
              <a:rPr lang="en-US" dirty="0">
                <a:latin typeface="Cambria" panose="02040503050406030204" pitchFamily="18" charset="0"/>
                <a:ea typeface="Cambria" panose="02040503050406030204" pitchFamily="18" charset="0"/>
              </a:rPr>
              <a:t>To develop a mobile application that can capture and store complete trip-related information (itinerary, bookings, documents, notes).</a:t>
            </a:r>
          </a:p>
          <a:p>
            <a:r>
              <a:rPr lang="en-US" dirty="0">
                <a:latin typeface="Cambria" panose="02040503050406030204" pitchFamily="18" charset="0"/>
                <a:ea typeface="Cambria" panose="02040503050406030204" pitchFamily="18" charset="0"/>
              </a:rPr>
              <a:t>To provide organized trip management through a single dashboard for each journey.</a:t>
            </a:r>
          </a:p>
          <a:p>
            <a:r>
              <a:rPr lang="en-US" dirty="0">
                <a:latin typeface="Cambria" panose="02040503050406030204" pitchFamily="18" charset="0"/>
                <a:ea typeface="Cambria" panose="02040503050406030204" pitchFamily="18" charset="0"/>
              </a:rPr>
              <a:t>To assist travelers with reminders and real-time trip support during travel.</a:t>
            </a:r>
          </a:p>
          <a:p>
            <a:r>
              <a:rPr lang="en-US" dirty="0">
                <a:latin typeface="Cambria" panose="02040503050406030204" pitchFamily="18" charset="0"/>
                <a:ea typeface="Cambria" panose="02040503050406030204" pitchFamily="18" charset="0"/>
              </a:rPr>
              <a:t>To enable offline access to important trip details in low-network areas.</a:t>
            </a:r>
          </a:p>
          <a:p>
            <a:r>
              <a:rPr lang="en-US" dirty="0">
                <a:latin typeface="Cambria" panose="02040503050406030204" pitchFamily="18" charset="0"/>
                <a:ea typeface="Cambria" panose="02040503050406030204" pitchFamily="18" charset="0"/>
              </a:rPr>
              <a:t>To help users track trip expenses and budgets for better financial planning.</a:t>
            </a:r>
          </a:p>
          <a:p>
            <a:r>
              <a:rPr lang="en-US" dirty="0">
                <a:latin typeface="Cambria" panose="02040503050406030204" pitchFamily="18" charset="0"/>
                <a:ea typeface="Cambria" panose="02040503050406030204" pitchFamily="18" charset="0"/>
              </a:rPr>
              <a:t>To improve traveler safety by providing emergency contact and SOS support.</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75872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Technology Stack Components:</a:t>
            </a:r>
          </a:p>
          <a:p>
            <a:pPr marL="76200" indent="0">
              <a:buNone/>
            </a:pPr>
            <a:endParaRPr lang="en-US" dirty="0">
              <a:latin typeface="Cambria" panose="02040503050406030204" pitchFamily="18" charset="0"/>
              <a:ea typeface="Cambria" panose="02040503050406030204" pitchFamily="18" charset="0"/>
            </a:endParaRPr>
          </a:p>
          <a:p>
            <a:pPr marL="76200" indent="0">
              <a:buNone/>
            </a:pPr>
            <a:r>
              <a:rPr lang="en-IN" sz="1800" b="1" dirty="0">
                <a:latin typeface="Cambria" panose="02040503050406030204" pitchFamily="18" charset="0"/>
                <a:ea typeface="Cambria" panose="02040503050406030204" pitchFamily="18" charset="0"/>
              </a:rPr>
              <a:t>Mobile Application (Frontend)</a:t>
            </a:r>
          </a:p>
          <a:p>
            <a:r>
              <a:rPr lang="en-IN" sz="1800" dirty="0">
                <a:latin typeface="Cambria" panose="02040503050406030204" pitchFamily="18" charset="0"/>
                <a:ea typeface="Cambria" panose="02040503050406030204" pitchFamily="18" charset="0"/>
              </a:rPr>
              <a:t>Android Studio</a:t>
            </a:r>
          </a:p>
          <a:p>
            <a:r>
              <a:rPr lang="en-IN" sz="1800" dirty="0">
                <a:latin typeface="Cambria" panose="02040503050406030204" pitchFamily="18" charset="0"/>
                <a:ea typeface="Cambria" panose="02040503050406030204" pitchFamily="18" charset="0"/>
              </a:rPr>
              <a:t>Language: Java/Kotlin</a:t>
            </a:r>
          </a:p>
          <a:p>
            <a:r>
              <a:rPr lang="en-IN" sz="1800" dirty="0">
                <a:latin typeface="Cambria" panose="02040503050406030204" pitchFamily="18" charset="0"/>
                <a:ea typeface="Cambria" panose="02040503050406030204" pitchFamily="18" charset="0"/>
              </a:rPr>
              <a:t>UI: XML Layouts + Material Design Components</a:t>
            </a:r>
          </a:p>
          <a:p>
            <a:pPr marL="76200" indent="0">
              <a:buNone/>
            </a:pPr>
            <a:endParaRPr lang="en-IN" sz="1800" dirty="0">
              <a:latin typeface="Cambria" panose="02040503050406030204" pitchFamily="18" charset="0"/>
              <a:ea typeface="Cambria" panose="02040503050406030204" pitchFamily="18" charset="0"/>
            </a:endParaRPr>
          </a:p>
          <a:p>
            <a:pPr marL="76200" indent="0">
              <a:buNone/>
            </a:pPr>
            <a:r>
              <a:rPr lang="en-IN" sz="1800" b="1" dirty="0">
                <a:latin typeface="Cambria" panose="02040503050406030204" pitchFamily="18" charset="0"/>
                <a:ea typeface="Cambria" panose="02040503050406030204" pitchFamily="18" charset="0"/>
              </a:rPr>
              <a:t>Backend / API</a:t>
            </a:r>
          </a:p>
          <a:p>
            <a:r>
              <a:rPr lang="en-IN" sz="1800" dirty="0">
                <a:latin typeface="Cambria" panose="02040503050406030204" pitchFamily="18" charset="0"/>
                <a:ea typeface="Cambria" panose="02040503050406030204" pitchFamily="18" charset="0"/>
              </a:rPr>
              <a:t>Java</a:t>
            </a:r>
          </a:p>
          <a:p>
            <a:r>
              <a:rPr lang="en-IN" sz="1800" dirty="0">
                <a:latin typeface="Cambria" panose="02040503050406030204" pitchFamily="18" charset="0"/>
                <a:ea typeface="Cambria" panose="02040503050406030204" pitchFamily="18" charset="0"/>
              </a:rPr>
              <a:t>REST APIs</a:t>
            </a:r>
          </a:p>
          <a:p>
            <a:pPr marL="76200" indent="0">
              <a:buNone/>
            </a:pPr>
            <a:endParaRPr lang="en-IN" dirty="0"/>
          </a:p>
          <a:p>
            <a:pPr marL="76200" indent="0">
              <a:buNone/>
            </a:pPr>
            <a:r>
              <a:rPr lang="en-IN" sz="1800" b="1" dirty="0">
                <a:latin typeface="Cambria" panose="02040503050406030204" pitchFamily="18" charset="0"/>
                <a:ea typeface="Cambria" panose="02040503050406030204" pitchFamily="18" charset="0"/>
              </a:rPr>
              <a:t>Database</a:t>
            </a:r>
          </a:p>
          <a:p>
            <a:r>
              <a:rPr lang="en-IN" sz="1800" dirty="0">
                <a:latin typeface="Cambria" panose="02040503050406030204" pitchFamily="18" charset="0"/>
                <a:ea typeface="Cambria" panose="02040503050406030204" pitchFamily="18" charset="0"/>
              </a:rPr>
              <a:t>Firebase Firestore</a:t>
            </a:r>
            <a:endParaRPr lang="en-US" sz="18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Requirements: </a:t>
            </a:r>
          </a:p>
          <a:p>
            <a:pPr marL="76200" indent="0">
              <a:buNone/>
            </a:pPr>
            <a:endParaRPr lang="en-IN" sz="1800" dirty="0">
              <a:latin typeface="Cambria" panose="02040503050406030204" pitchFamily="18" charset="0"/>
              <a:ea typeface="Cambria" panose="02040503050406030204" pitchFamily="18" charset="0"/>
            </a:endParaRPr>
          </a:p>
          <a:p>
            <a:pPr marL="76200" indent="0">
              <a:buNone/>
            </a:pPr>
            <a:r>
              <a:rPr lang="en-IN" sz="1800" dirty="0">
                <a:latin typeface="Cambria" panose="02040503050406030204" pitchFamily="18" charset="0"/>
                <a:ea typeface="Cambria" panose="02040503050406030204" pitchFamily="18" charset="0"/>
              </a:rPr>
              <a:t>Software Requirements</a:t>
            </a:r>
          </a:p>
          <a:p>
            <a:pPr marL="76200" indent="0">
              <a:buNone/>
            </a:pPr>
            <a:endParaRPr lang="en-IN" sz="1800" dirty="0">
              <a:latin typeface="Cambria" panose="02040503050406030204" pitchFamily="18" charset="0"/>
              <a:ea typeface="Cambria" panose="02040503050406030204" pitchFamily="18" charset="0"/>
            </a:endParaRPr>
          </a:p>
          <a:p>
            <a:r>
              <a:rPr lang="en-IN" sz="1800" dirty="0">
                <a:latin typeface="Cambria" panose="02040503050406030204" pitchFamily="18" charset="0"/>
                <a:ea typeface="Cambria" panose="02040503050406030204" pitchFamily="18" charset="0"/>
              </a:rPr>
              <a:t>Android Studio</a:t>
            </a:r>
          </a:p>
          <a:p>
            <a:r>
              <a:rPr lang="en-IN" sz="1800" dirty="0">
                <a:latin typeface="Cambria" panose="02040503050406030204" pitchFamily="18" charset="0"/>
                <a:ea typeface="Cambria" panose="02040503050406030204" pitchFamily="18" charset="0"/>
              </a:rPr>
              <a:t>Java / Kotlin</a:t>
            </a:r>
          </a:p>
          <a:p>
            <a:r>
              <a:rPr lang="en-IN" sz="1800" dirty="0">
                <a:latin typeface="Cambria" panose="02040503050406030204" pitchFamily="18" charset="0"/>
                <a:ea typeface="Cambria" panose="02040503050406030204" pitchFamily="18" charset="0"/>
              </a:rPr>
              <a:t>Git &amp; GitHub</a:t>
            </a:r>
          </a:p>
          <a:p>
            <a:r>
              <a:rPr lang="en-IN" sz="1800" dirty="0">
                <a:latin typeface="Cambria" panose="02040503050406030204" pitchFamily="18" charset="0"/>
                <a:ea typeface="Cambria" panose="02040503050406030204" pitchFamily="18" charset="0"/>
              </a:rPr>
              <a:t>Postman (API testing)</a:t>
            </a:r>
          </a:p>
          <a:p>
            <a:r>
              <a:rPr lang="en-IN" sz="1800" dirty="0">
                <a:latin typeface="Cambria" panose="02040503050406030204" pitchFamily="18" charset="0"/>
                <a:ea typeface="Cambria" panose="02040503050406030204" pitchFamily="18" charset="0"/>
              </a:rPr>
              <a:t>Google Maps API</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sz="1800" b="1" dirty="0">
                <a:latin typeface="Cambria" panose="02040503050406030204" pitchFamily="18" charset="0"/>
                <a:ea typeface="Cambria" panose="02040503050406030204" pitchFamily="18" charset="0"/>
              </a:rPr>
              <a:t>Key Challenges</a:t>
            </a:r>
          </a:p>
          <a:p>
            <a:pPr marL="76200" indent="0">
              <a:buNone/>
            </a:pPr>
            <a:endParaRPr lang="en-US" sz="1800" b="1"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Trip details </a:t>
            </a:r>
            <a:r>
              <a:rPr lang="en-US" sz="1800">
                <a:latin typeface="Cambria" panose="02040503050406030204" pitchFamily="18" charset="0"/>
                <a:ea typeface="Cambria" panose="02040503050406030204" pitchFamily="18" charset="0"/>
              </a:rPr>
              <a:t>cloud implementation.</a:t>
            </a: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Users face difficulty retrieving tickets, hotel details, and itinerary quickly.</a:t>
            </a:r>
          </a:p>
          <a:p>
            <a:r>
              <a:rPr lang="en-US" sz="1800" dirty="0">
                <a:latin typeface="Cambria" panose="02040503050406030204" pitchFamily="18" charset="0"/>
                <a:ea typeface="Cambria" panose="02040503050406030204" pitchFamily="18" charset="0"/>
              </a:rPr>
              <a:t>Lack of offline availability in low-network areas.</a:t>
            </a:r>
          </a:p>
          <a:p>
            <a:r>
              <a:rPr lang="en-US" sz="1800" dirty="0">
                <a:latin typeface="Cambria" panose="02040503050406030204" pitchFamily="18" charset="0"/>
                <a:ea typeface="Cambria" panose="02040503050406030204" pitchFamily="18" charset="0"/>
              </a:rPr>
              <a:t>No centralized system for trip budget &amp; expense tracking.</a:t>
            </a:r>
          </a:p>
          <a:p>
            <a:r>
              <a:rPr lang="en-US" sz="1800" dirty="0">
                <a:latin typeface="Cambria" panose="02040503050406030204" pitchFamily="18" charset="0"/>
                <a:ea typeface="Cambria" panose="02040503050406030204" pitchFamily="18" charset="0"/>
              </a:rPr>
              <a:t>Need for travel reminders and safety assistance</a:t>
            </a:r>
            <a:r>
              <a:rPr lang="en-US" sz="1800" dirty="0"/>
              <a:t>.</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IN" dirty="0" err="1">
                <a:hlinkClick r:id="rId3"/>
              </a:rPr>
              <a:t>thejas</a:t>
            </a:r>
            <a:r>
              <a:rPr lang="en-IN" dirty="0">
                <a:hlinkClick r:id="rId3"/>
              </a:rPr>
              <a:t>-c/</a:t>
            </a:r>
            <a:r>
              <a:rPr lang="en-IN" dirty="0" err="1">
                <a:hlinkClick r:id="rId3"/>
              </a:rPr>
              <a:t>JourneyBox</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A8739732-095A-23B2-21BE-FAA2066CB05B}"/>
              </a:ext>
            </a:extLst>
          </p:cNvPr>
          <p:cNvPicPr>
            <a:picLocks noChangeAspect="1"/>
          </p:cNvPicPr>
          <p:nvPr/>
        </p:nvPicPr>
        <p:blipFill>
          <a:blip r:embed="rId3"/>
          <a:stretch>
            <a:fillRect/>
          </a:stretch>
        </p:blipFill>
        <p:spPr>
          <a:xfrm>
            <a:off x="1838633" y="1730840"/>
            <a:ext cx="7440561" cy="373061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479890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r>
              <a:rPr lang="en-US" sz="2000" dirty="0">
                <a:latin typeface="Cambria" panose="02040503050406030204" pitchFamily="18" charset="0"/>
                <a:ea typeface="Cambria" panose="02040503050406030204" pitchFamily="18" charset="0"/>
              </a:rPr>
              <a:t>[1] A. Dickinson, K. Ghali, M. </a:t>
            </a:r>
            <a:r>
              <a:rPr lang="en-US" sz="2000" dirty="0" err="1">
                <a:latin typeface="Cambria" panose="02040503050406030204" pitchFamily="18" charset="0"/>
                <a:ea typeface="Cambria" panose="02040503050406030204" pitchFamily="18" charset="0"/>
              </a:rPr>
              <a:t>Cherrett</a:t>
            </a:r>
            <a:r>
              <a:rPr lang="en-US" sz="2000" dirty="0">
                <a:latin typeface="Cambria" panose="02040503050406030204" pitchFamily="18" charset="0"/>
                <a:ea typeface="Cambria" panose="02040503050406030204" pitchFamily="18" charset="0"/>
              </a:rPr>
              <a:t>, J. Speed, N. Davies, and C. Norgate, “Tourism and the Smartphone App: Capabilities, Emerging Practice and Scope in the Travel Domain, Current Issues in Tourism, vol. 17, no. 1, pp. 84101, 2014. </a:t>
            </a:r>
          </a:p>
          <a:p>
            <a:r>
              <a:rPr lang="en-US" sz="2000" dirty="0">
                <a:latin typeface="Cambria" panose="02040503050406030204" pitchFamily="18" charset="0"/>
                <a:ea typeface="Cambria" panose="02040503050406030204" pitchFamily="18" charset="0"/>
              </a:rPr>
              <a:t>[2] D. A. </a:t>
            </a:r>
            <a:r>
              <a:rPr lang="en-US" sz="2000" dirty="0" err="1">
                <a:latin typeface="Cambria" panose="02040503050406030204" pitchFamily="18" charset="0"/>
                <a:ea typeface="Cambria" panose="02040503050406030204" pitchFamily="18" charset="0"/>
              </a:rPr>
              <a:t>Amaranggana</a:t>
            </a:r>
            <a:r>
              <a:rPr lang="en-US" sz="2000" dirty="0">
                <a:latin typeface="Cambria" panose="02040503050406030204" pitchFamily="18" charset="0"/>
                <a:ea typeface="Cambria" panose="02040503050406030204" pitchFamily="18" charset="0"/>
              </a:rPr>
              <a:t> and </a:t>
            </a:r>
            <a:r>
              <a:rPr lang="en-US" sz="2000" dirty="0" err="1">
                <a:latin typeface="Cambria" panose="02040503050406030204" pitchFamily="18" charset="0"/>
                <a:ea typeface="Cambria" panose="02040503050406030204" pitchFamily="18" charset="0"/>
              </a:rPr>
              <a:t>Buhalis</a:t>
            </a:r>
            <a:r>
              <a:rPr lang="en-US" sz="2000" dirty="0">
                <a:latin typeface="Cambria" panose="02040503050406030204" pitchFamily="18" charset="0"/>
                <a:ea typeface="Cambria" panose="02040503050406030204" pitchFamily="18" charset="0"/>
              </a:rPr>
              <a:t>, Smart Tourism Destinations: Improving Tourism Experience using </a:t>
            </a:r>
            <a:r>
              <a:rPr lang="en-US" sz="2000" dirty="0" err="1">
                <a:latin typeface="Cambria" panose="02040503050406030204" pitchFamily="18" charset="0"/>
                <a:ea typeface="Cambria" panose="02040503050406030204" pitchFamily="18" charset="0"/>
              </a:rPr>
              <a:t>Personalisation</a:t>
            </a:r>
            <a:r>
              <a:rPr lang="en-US" sz="2000" dirty="0">
                <a:latin typeface="Cambria" panose="02040503050406030204" pitchFamily="18" charset="0"/>
                <a:ea typeface="Cambria" panose="02040503050406030204" pitchFamily="18" charset="0"/>
              </a:rPr>
              <a:t> of Services, in Proc. International Conference on Information and Communication Technologies in Tourism, 2015. </a:t>
            </a:r>
          </a:p>
          <a:p>
            <a:r>
              <a:rPr lang="en-US" sz="2000" dirty="0">
                <a:latin typeface="Cambria" panose="02040503050406030204" pitchFamily="18" charset="0"/>
                <a:ea typeface="Cambria" panose="02040503050406030204" pitchFamily="18" charset="0"/>
              </a:rPr>
              <a:t>[3] M. </a:t>
            </a:r>
            <a:r>
              <a:rPr lang="en-US" sz="2000" dirty="0" err="1">
                <a:latin typeface="Cambria" panose="02040503050406030204" pitchFamily="18" charset="0"/>
                <a:ea typeface="Cambria" panose="02040503050406030204" pitchFamily="18" charset="0"/>
              </a:rPr>
              <a:t>Tussyadiah</a:t>
            </a:r>
            <a:r>
              <a:rPr lang="en-US" sz="2000" dirty="0">
                <a:latin typeface="Cambria" panose="02040503050406030204" pitchFamily="18" charset="0"/>
                <a:ea typeface="Cambria" panose="02040503050406030204" pitchFamily="18" charset="0"/>
              </a:rPr>
              <a:t> and D. Wang, Tourists Adoption of Mobile Application: Motivation, Satisfaction and </a:t>
            </a:r>
            <a:r>
              <a:rPr lang="en-US" sz="2000" dirty="0" err="1">
                <a:latin typeface="Cambria" panose="02040503050406030204" pitchFamily="18" charset="0"/>
                <a:ea typeface="Cambria" panose="02040503050406030204" pitchFamily="18" charset="0"/>
              </a:rPr>
              <a:t>Behavioural</a:t>
            </a:r>
            <a:r>
              <a:rPr lang="en-US" sz="2000" dirty="0">
                <a:latin typeface="Cambria" panose="02040503050406030204" pitchFamily="18" charset="0"/>
                <a:ea typeface="Cambria" panose="02040503050406030204" pitchFamily="18" charset="0"/>
              </a:rPr>
              <a:t> Intention, Journal of Travel Research, vol. 55, no. 8, 2016. </a:t>
            </a:r>
          </a:p>
          <a:p>
            <a:r>
              <a:rPr lang="en-US" sz="2000" dirty="0">
                <a:latin typeface="Cambria" panose="02040503050406030204" pitchFamily="18" charset="0"/>
                <a:ea typeface="Cambria" panose="02040503050406030204" pitchFamily="18" charset="0"/>
              </a:rPr>
              <a:t>[4] P. Kaur and S. Sharma, A Smart Travel Planner Application with the Mobile Computing, in Proc. International Conference on Intelligent Communication and Computational Techniques (ICCT) 2018. </a:t>
            </a:r>
          </a:p>
          <a:p>
            <a:r>
              <a:rPr lang="en-US" sz="2000" dirty="0">
                <a:latin typeface="Cambria" panose="02040503050406030204" pitchFamily="18" charset="0"/>
                <a:ea typeface="Cambria" panose="02040503050406030204" pitchFamily="18" charset="0"/>
              </a:rPr>
              <a:t>[5] X. Y. Zheng, K. H. Lim, and J. Yang, Mobile Travel Applications and their effects on tourist experience: A review, Tourism Management Perspectives, vol. 35, pp.100-110, 2020. </a:t>
            </a:r>
          </a:p>
          <a:p>
            <a:pPr marL="152400" indent="0">
              <a:spcBef>
                <a:spcPts val="0"/>
              </a:spcBef>
              <a:buNone/>
            </a:pPr>
            <a:endParaRPr sz="2000"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C5D20-A199-2445-EC75-3687CF36BF19}"/>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a:t>
            </a:r>
            <a:endParaRPr lang="en-IN" dirty="0"/>
          </a:p>
        </p:txBody>
      </p:sp>
      <p:sp>
        <p:nvSpPr>
          <p:cNvPr id="3" name="Text Placeholder 2">
            <a:extLst>
              <a:ext uri="{FF2B5EF4-FFF2-40B4-BE49-F238E27FC236}">
                <a16:creationId xmlns:a16="http://schemas.microsoft.com/office/drawing/2014/main" id="{72F68697-8E8C-77A3-1C83-EC1885B37BAC}"/>
              </a:ext>
            </a:extLst>
          </p:cNvPr>
          <p:cNvSpPr>
            <a:spLocks noGrp="1"/>
          </p:cNvSpPr>
          <p:nvPr>
            <p:ph type="body" idx="1"/>
          </p:nvPr>
        </p:nvSpPr>
        <p:spPr/>
        <p:txBody>
          <a:bodyPr>
            <a:normAutofit fontScale="92500" lnSpcReduction="10000"/>
          </a:bodyPr>
          <a:lstStyle/>
          <a:p>
            <a:r>
              <a:rPr lang="en-US" dirty="0">
                <a:latin typeface="Cambria" panose="02040503050406030204" pitchFamily="18" charset="0"/>
                <a:ea typeface="Cambria" panose="02040503050406030204" pitchFamily="18" charset="0"/>
              </a:rPr>
              <a:t>[6] Ahmed Alsharif et al., systematics review I: Smart Tourism, Hospitality, and Destination: A Systematic Review and Future Direction Systematic Review (Scopus SLR, accepted 2024) — 2013 to Nov 2023. </a:t>
            </a:r>
          </a:p>
          <a:p>
            <a:r>
              <a:rPr lang="en-US" dirty="0">
                <a:latin typeface="Cambria" panose="02040503050406030204" pitchFamily="18" charset="0"/>
                <a:ea typeface="Cambria" panose="02040503050406030204" pitchFamily="18" charset="0"/>
              </a:rPr>
              <a:t>[7] Google Developers, “ML Kit Text Recognition v2," Google, 2024 — on-screen OCR that can be used in mobile apps (can be helpful in extracting tickets/receipts). </a:t>
            </a:r>
          </a:p>
          <a:p>
            <a:r>
              <a:rPr lang="en-IN" dirty="0">
                <a:latin typeface="Cambria" panose="02040503050406030204" pitchFamily="18" charset="0"/>
                <a:ea typeface="Cambria" panose="02040503050406030204" pitchFamily="18" charset="0"/>
              </a:rPr>
              <a:t>[8] Y. Y. Yap, “Smart Tourism, Technologies and Tourist Satisfaction,” Journal/ScienceDirect, 2025 — the literature on tourist satisfaction and smart tourism technologies. </a:t>
            </a:r>
          </a:p>
          <a:p>
            <a:r>
              <a:rPr lang="en-US" dirty="0">
                <a:latin typeface="Cambria" panose="02040503050406030204" pitchFamily="18" charset="0"/>
                <a:ea typeface="Cambria" panose="02040503050406030204" pitchFamily="18" charset="0"/>
              </a:rPr>
              <a:t>[9] (Offline-first mobile architecture direction) “Local caching and sync patterns in Android Offline-First Architectures Implementation” / engineering papers and preprints (2024-25) - advice on the patterns of local caching and syncing of mobile applications. </a:t>
            </a:r>
          </a:p>
          <a:p>
            <a:r>
              <a:rPr lang="en-US" dirty="0">
                <a:latin typeface="Cambria" panose="02040503050406030204" pitchFamily="18" charset="0"/>
                <a:ea typeface="Cambria" panose="02040503050406030204" pitchFamily="18" charset="0"/>
              </a:rPr>
              <a:t>[10] IJNRD / IJSRET / IJPREMS published studies (2024-2025) on expense-tracker mobile applications and implementations practical implementations and UX results on the expense tracking in mobile settings </a:t>
            </a:r>
            <a:r>
              <a:rPr lang="en-IN" dirty="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89688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350</TotalTime>
  <Words>878</Words>
  <Application>Microsoft Office PowerPoint</Application>
  <PresentationFormat>Widescreen</PresentationFormat>
  <Paragraphs>101</Paragraphs>
  <Slides>12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Bookman Old Style</vt:lpstr>
      <vt:lpstr>Calibri</vt:lpstr>
      <vt:lpstr>Cambria</vt:lpstr>
      <vt:lpstr>Verdana</vt:lpstr>
      <vt:lpstr>Wingdings</vt:lpstr>
      <vt:lpstr>Bioinformatics</vt:lpstr>
      <vt:lpstr>JourneyBox – Smart Travel Companion App</vt:lpstr>
      <vt:lpstr>Content</vt:lpstr>
      <vt:lpstr>Problem Statement Number: SIH25082</vt:lpstr>
      <vt:lpstr>Objectives</vt:lpstr>
      <vt:lpstr>Analysis of Problem Statement</vt:lpstr>
      <vt:lpstr>Analysis of Problem Statement (contd...)</vt:lpstr>
      <vt:lpstr>Analysis of Problem Statement (contd...)</vt:lpstr>
      <vt:lpstr>Github Link</vt:lpstr>
      <vt:lpstr>Timeline of the Project (Gantt Chart)</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Thejas C</cp:lastModifiedBy>
  <cp:revision>50</cp:revision>
  <dcterms:modified xsi:type="dcterms:W3CDTF">2026-03-02T09:35:52Z</dcterms:modified>
</cp:coreProperties>
</file>