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69" r:id="rId4"/>
    <p:sldId id="274" r:id="rId5"/>
    <p:sldId id="275" r:id="rId6"/>
    <p:sldId id="273" r:id="rId7"/>
    <p:sldId id="272" r:id="rId8"/>
    <p:sldId id="271"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CEC601F7-1234-492B-8A69-CAFB0DEE4ACA}">
          <p14:sldIdLst>
            <p14:sldId id="256"/>
            <p14:sldId id="257"/>
            <p14:sldId id="269"/>
            <p14:sldId id="274"/>
            <p14:sldId id="275"/>
            <p14:sldId id="273"/>
            <p14:sldId id="272"/>
            <p14:sldId id="271"/>
            <p14:sldId id="268"/>
            <p14:sldId id="270"/>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94210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sz="2400" dirty="0">
                <a:solidFill>
                  <a:schemeClr val="tx1"/>
                </a:solidFill>
                <a:latin typeface="Cambria" panose="02040503050406030204" pitchFamily="18" charset="0"/>
                <a:ea typeface="Cambria" panose="02040503050406030204" pitchFamily="18" charset="0"/>
              </a:rPr>
              <a:t>JourneyBox – Smart Travel Companion App</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Bookman Old Style" panose="02050604050505020204" pitchFamily="18" charset="0"/>
                <a:ea typeface="Cambria" panose="02040503050406030204" pitchFamily="18" charset="0"/>
              </a:rPr>
              <a:t>CSE_164</a:t>
            </a:r>
            <a:endParaRPr sz="1800" dirty="0">
              <a:latin typeface="Cambria" panose="02040503050406030204" pitchFamily="18" charset="0"/>
              <a:ea typeface="Cambria" panose="02040503050406030204" pitchFamily="18" charset="0"/>
            </a:endParaRPr>
          </a:p>
        </p:txBody>
      </p:sp>
      <p:sp>
        <p:nvSpPr>
          <p:cNvPr id="91" name="Google Shape;91;p13"/>
          <p:cNvSpPr txBox="1"/>
          <p:nvPr/>
        </p:nvSpPr>
        <p:spPr>
          <a:xfrm>
            <a:off x="3222582" y="152289"/>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703743"/>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ea typeface="Cambria" panose="02040503050406030204" pitchFamily="18" charset="0"/>
                <a:cs typeface="Verdana"/>
                <a:sym typeface="Verdana"/>
              </a:rPr>
              <a:t>CSE7302-University Project</a:t>
            </a:r>
            <a:endPar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Blessed Prince</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err="1">
                <a:solidFill>
                  <a:schemeClr val="tx1"/>
                </a:solidFill>
                <a:latin typeface="Cambria" panose="02040503050406030204" pitchFamily="18" charset="0"/>
                <a:ea typeface="Cambria" panose="02040503050406030204" pitchFamily="18" charset="0"/>
                <a:cs typeface="Verdana"/>
                <a:sym typeface="Verdana"/>
              </a:rPr>
              <a:t>Mr.Muthuraju</a:t>
            </a:r>
            <a:r>
              <a:rPr lang="en-US" sz="1800" b="1" dirty="0">
                <a:solidFill>
                  <a:schemeClr val="tx1"/>
                </a:solidFill>
                <a:latin typeface="Cambria" panose="02040503050406030204" pitchFamily="18" charset="0"/>
                <a:ea typeface="Cambria" panose="02040503050406030204" pitchFamily="18" charset="0"/>
                <a:cs typeface="Verdana"/>
                <a:sym typeface="Verdana"/>
              </a:rPr>
              <a:t> V</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C9300913-CE83-E6D2-8220-EEF0E6A7D4BE}"/>
              </a:ext>
            </a:extLst>
          </p:cNvPr>
          <p:cNvGraphicFramePr>
            <a:graphicFrameLocks noGrp="1"/>
          </p:cNvGraphicFramePr>
          <p:nvPr>
            <p:extLst>
              <p:ext uri="{D42A27DB-BD31-4B8C-83A1-F6EECF244321}">
                <p14:modId xmlns:p14="http://schemas.microsoft.com/office/powerpoint/2010/main" val="1213287067"/>
              </p:ext>
            </p:extLst>
          </p:nvPr>
        </p:nvGraphicFramePr>
        <p:xfrm>
          <a:off x="744133" y="2631381"/>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3320247729"/>
                    </a:ext>
                  </a:extLst>
                </a:gridCol>
                <a:gridCol w="3333675">
                  <a:extLst>
                    <a:ext uri="{9D8B030D-6E8A-4147-A177-3AD203B41FA5}">
                      <a16:colId xmlns:a16="http://schemas.microsoft.com/office/drawing/2014/main" val="3268712058"/>
                    </a:ext>
                  </a:extLst>
                </a:gridCol>
              </a:tblGrid>
              <a:tr h="293747">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149855435"/>
                  </a:ext>
                </a:extLst>
              </a:tr>
              <a:tr h="293747">
                <a:tc>
                  <a:txBody>
                    <a:bodyPr/>
                    <a:lstStyle/>
                    <a:p>
                      <a:pPr marL="0" marR="0" lvl="0" indent="0" algn="ctr" rtl="0">
                        <a:spcBef>
                          <a:spcPts val="0"/>
                        </a:spcBef>
                        <a:spcAft>
                          <a:spcPts val="0"/>
                        </a:spcAft>
                        <a:buFont typeface="+mj-lt"/>
                        <a:buNone/>
                      </a:pPr>
                      <a:r>
                        <a:rPr lang="en-IN" sz="1800" u="none" strike="noStrike" cap="none" dirty="0"/>
                        <a:t>20221CSE0626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THEJAS C</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781393000"/>
                  </a:ext>
                </a:extLst>
              </a:tr>
              <a:tr h="293747">
                <a:tc>
                  <a:txBody>
                    <a:bodyPr/>
                    <a:lstStyle/>
                    <a:p>
                      <a:pPr marL="0" marR="0" lvl="0" indent="0" algn="ctr" rtl="0">
                        <a:spcBef>
                          <a:spcPts val="0"/>
                        </a:spcBef>
                        <a:spcAft>
                          <a:spcPts val="0"/>
                        </a:spcAft>
                        <a:buNone/>
                      </a:pPr>
                      <a:r>
                        <a:rPr lang="en-IN" sz="1800" u="none" strike="noStrike" cap="none" dirty="0"/>
                        <a:t>20221CSE0624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T M TEJASHWINI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219961331"/>
                  </a:ext>
                </a:extLst>
              </a:tr>
              <a:tr h="293747">
                <a:tc>
                  <a:txBody>
                    <a:bodyPr/>
                    <a:lstStyle/>
                    <a:p>
                      <a:pPr marL="0" marR="0" lvl="0" indent="0" algn="ctr" rtl="0">
                        <a:spcBef>
                          <a:spcPts val="0"/>
                        </a:spcBef>
                        <a:spcAft>
                          <a:spcPts val="0"/>
                        </a:spcAft>
                        <a:buNone/>
                      </a:pPr>
                      <a:r>
                        <a:rPr lang="en-IN" sz="1800" u="none" strike="noStrike" cap="none" dirty="0"/>
                        <a:t>20221CSE0628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VINAY K HIREMATH</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400874960"/>
                  </a:ext>
                </a:extLst>
              </a:tr>
              <a:tr h="29374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864048743"/>
                  </a:ext>
                </a:extLst>
              </a:tr>
              <a:tr h="29374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2996905173"/>
                  </a:ext>
                </a:extLst>
              </a:tr>
            </a:tbl>
          </a:graphicData>
        </a:graphic>
      </p:graphicFrame>
      <p:sp>
        <p:nvSpPr>
          <p:cNvPr id="4" name="TextBox 3">
            <a:extLst>
              <a:ext uri="{FF2B5EF4-FFF2-40B4-BE49-F238E27FC236}">
                <a16:creationId xmlns:a16="http://schemas.microsoft.com/office/drawing/2014/main" id="{46149209-34A7-B777-D590-E7D62FB7F7E2}"/>
              </a:ext>
            </a:extLst>
          </p:cNvPr>
          <p:cNvSpPr txBox="1"/>
          <p:nvPr/>
        </p:nvSpPr>
        <p:spPr>
          <a:xfrm>
            <a:off x="5893580" y="2321502"/>
            <a:ext cx="6150076" cy="2072362"/>
          </a:xfrm>
          <a:prstGeom prst="rect">
            <a:avLst/>
          </a:prstGeom>
          <a:noFill/>
        </p:spPr>
        <p:txBody>
          <a:bodyPr wrap="square">
            <a:spAutoFit/>
          </a:bodyPr>
          <a:lstStyle/>
          <a:p>
            <a:pPr marL="0" marR="0" lvl="0" indent="0" algn="ctr" rtl="0">
              <a:spcBef>
                <a:spcPts val="0"/>
              </a:spcBef>
              <a:spcAft>
                <a:spcPts val="0"/>
              </a:spcAft>
              <a:buClr>
                <a:srgbClr val="17365D"/>
              </a:buClr>
              <a:buSzPts val="2000"/>
              <a:buFont typeface="Arial"/>
              <a:buNone/>
            </a:pPr>
            <a:r>
              <a:rPr lang="en-US" sz="16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sz="16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lang="en-US" sz="16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lgn="ctr">
              <a:spcBef>
                <a:spcPts val="340"/>
              </a:spcBef>
              <a:buClr>
                <a:srgbClr val="17365D"/>
              </a:buClr>
              <a:buSzPts val="1700"/>
            </a:pPr>
            <a:r>
              <a:rPr lang="en-US" sz="1600" b="1" dirty="0">
                <a:solidFill>
                  <a:schemeClr val="tx1"/>
                </a:solidFill>
                <a:latin typeface="Cambria" panose="02040503050406030204" pitchFamily="18" charset="0"/>
                <a:ea typeface="Cambria" panose="02040503050406030204" pitchFamily="18" charset="0"/>
                <a:cs typeface="Verdana"/>
                <a:sym typeface="Verdana"/>
              </a:rPr>
              <a:t>Ms.Delsy Jyothi </a:t>
            </a:r>
          </a:p>
          <a:p>
            <a:pPr lvl="0" algn="ctr">
              <a:spcBef>
                <a:spcPts val="340"/>
              </a:spcBef>
              <a:buClr>
                <a:srgbClr val="17365D"/>
              </a:buClr>
              <a:buSzPts val="1700"/>
            </a:pPr>
            <a:r>
              <a:rPr lang="en-GB" sz="1600" b="1" dirty="0">
                <a:solidFill>
                  <a:srgbClr val="17365D"/>
                </a:solidFill>
                <a:latin typeface="Cambria" panose="02040503050406030204" pitchFamily="18" charset="0"/>
                <a:ea typeface="Cambria" panose="02040503050406030204" pitchFamily="18" charset="0"/>
                <a:cs typeface="Verdana"/>
                <a:sym typeface="Verdana"/>
              </a:rPr>
              <a:t>	Professor / Associate Professor / Assistant Professor</a:t>
            </a:r>
            <a:endParaRPr lang="en-GB" sz="16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US" sz="1600" b="1" i="0" u="none" strike="noStrike" cap="none"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lang="en-US" sz="1600" dirty="0">
              <a:solidFill>
                <a:schemeClr val="tx1"/>
              </a:solidFill>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US" sz="1600" b="1" i="0" u="none" strike="noStrike" cap="none" dirty="0">
                <a:solidFill>
                  <a:schemeClr val="tx1"/>
                </a:solidFill>
                <a:latin typeface="Cambria" panose="02040503050406030204" pitchFamily="18" charset="0"/>
                <a:ea typeface="Cambria" panose="02040503050406030204" pitchFamily="18" charset="0"/>
                <a:cs typeface="Verdana"/>
                <a:sym typeface="Verdana"/>
              </a:rPr>
              <a:t>Presidency University</a:t>
            </a:r>
            <a:endParaRPr lang="en-US" sz="1600"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lang="en-US" sz="16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r>
              <a:rPr lang="en-GB" dirty="0">
                <a:solidFill>
                  <a:schemeClr val="tx1"/>
                </a:solidFill>
                <a:latin typeface="Cambria" panose="02040503050406030204" pitchFamily="18" charset="0"/>
                <a:ea typeface="Cambria" panose="02040503050406030204" pitchFamily="18" charset="0"/>
              </a:rPr>
              <a:t>SIH25082</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Government of Kerala</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a:t>
            </a:r>
            <a:r>
              <a:rPr lang="en-US" dirty="0">
                <a:solidFill>
                  <a:schemeClr val="tx1"/>
                </a:solidFill>
                <a:latin typeface="Cambria" panose="02040503050406030204" pitchFamily="18" charset="0"/>
                <a:ea typeface="Cambria" panose="02040503050406030204" pitchFamily="18" charset="0"/>
              </a:rPr>
              <a:t>Software</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533400" lvl="1" indent="0" algn="just">
              <a:buNone/>
            </a:pPr>
            <a:r>
              <a:rPr lang="en-US" dirty="0">
                <a:latin typeface="Calibri" panose="020F0502020204030204" pitchFamily="34" charset="0"/>
                <a:ea typeface="Calibri" panose="020F0502020204030204" pitchFamily="34" charset="0"/>
                <a:cs typeface="Calibri" panose="020F0502020204030204" pitchFamily="34" charset="0"/>
              </a:rPr>
              <a:t>Travelers often struggle to manage and access trip-related information such as itinerary, booking details, travel documents, expenses, and emergency contacts. This information is usually scattered across messages, emails, screenshots, and different apps, making it difficult to retrieve at the right time.</a:t>
            </a:r>
          </a:p>
          <a:p>
            <a:pPr marL="533400" lvl="1" indent="0" algn="just">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533400" lvl="1" indent="0" algn="just">
              <a:buNone/>
            </a:pPr>
            <a:r>
              <a:rPr lang="en-US" dirty="0">
                <a:latin typeface="Calibri" panose="020F0502020204030204" pitchFamily="34" charset="0"/>
                <a:ea typeface="Calibri" panose="020F0502020204030204" pitchFamily="34" charset="0"/>
                <a:cs typeface="Calibri" panose="020F0502020204030204" pitchFamily="34" charset="0"/>
              </a:rPr>
              <a:t>There is a need for a mobile travel application that can be installed on smartphones to capture, store, and organize trip-related data, provide real-time assistance during the trip (reminders, navigation support, offline access), and improve overall travel convenience, safety, and trip management efficiency.</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55F22-7106-ADA3-BB88-89261C5F33A2}"/>
              </a:ext>
            </a:extLst>
          </p:cNvPr>
          <p:cNvSpPr>
            <a:spLocks noGrp="1"/>
          </p:cNvSpPr>
          <p:nvPr>
            <p:ph type="title"/>
          </p:nvPr>
        </p:nvSpPr>
        <p:spPr/>
        <p:txBody>
          <a:bodyPr/>
          <a:lstStyle/>
          <a:p>
            <a:r>
              <a:rPr lang="en-US" dirty="0"/>
              <a:t>Objectives</a:t>
            </a:r>
            <a:endParaRPr lang="en-IN" dirty="0"/>
          </a:p>
        </p:txBody>
      </p:sp>
      <p:sp>
        <p:nvSpPr>
          <p:cNvPr id="3" name="Text Placeholder 2">
            <a:extLst>
              <a:ext uri="{FF2B5EF4-FFF2-40B4-BE49-F238E27FC236}">
                <a16:creationId xmlns:a16="http://schemas.microsoft.com/office/drawing/2014/main" id="{DC0752F4-8D75-D8F3-6E5C-E95FBD8A4C55}"/>
              </a:ext>
            </a:extLst>
          </p:cNvPr>
          <p:cNvSpPr>
            <a:spLocks noGrp="1"/>
          </p:cNvSpPr>
          <p:nvPr>
            <p:ph type="body" idx="1"/>
          </p:nvPr>
        </p:nvSpPr>
        <p:spPr/>
        <p:txBody>
          <a:bodyPr>
            <a:normAutofit/>
          </a:bodyPr>
          <a:lstStyle/>
          <a:p>
            <a:r>
              <a:rPr lang="en-US" dirty="0">
                <a:latin typeface="Cambria" panose="02040503050406030204" pitchFamily="18" charset="0"/>
                <a:ea typeface="Cambria" panose="02040503050406030204" pitchFamily="18" charset="0"/>
              </a:rPr>
              <a:t>To develop a mobile application that can capture and store complete trip-related information (itinerary, bookings, documents, notes).</a:t>
            </a:r>
          </a:p>
          <a:p>
            <a:r>
              <a:rPr lang="en-US" dirty="0">
                <a:latin typeface="Cambria" panose="02040503050406030204" pitchFamily="18" charset="0"/>
                <a:ea typeface="Cambria" panose="02040503050406030204" pitchFamily="18" charset="0"/>
              </a:rPr>
              <a:t>To provide organized trip management through a single dashboard for each journey.</a:t>
            </a:r>
          </a:p>
          <a:p>
            <a:r>
              <a:rPr lang="en-US" dirty="0">
                <a:latin typeface="Cambria" panose="02040503050406030204" pitchFamily="18" charset="0"/>
                <a:ea typeface="Cambria" panose="02040503050406030204" pitchFamily="18" charset="0"/>
              </a:rPr>
              <a:t>To assist travelers with reminders and real-time trip support during travel.</a:t>
            </a:r>
          </a:p>
          <a:p>
            <a:r>
              <a:rPr lang="en-US" dirty="0">
                <a:latin typeface="Cambria" panose="02040503050406030204" pitchFamily="18" charset="0"/>
                <a:ea typeface="Cambria" panose="02040503050406030204" pitchFamily="18" charset="0"/>
              </a:rPr>
              <a:t>To enable offline access to important trip details in low-network areas.</a:t>
            </a:r>
          </a:p>
          <a:p>
            <a:r>
              <a:rPr lang="en-US" dirty="0">
                <a:latin typeface="Cambria" panose="02040503050406030204" pitchFamily="18" charset="0"/>
                <a:ea typeface="Cambria" panose="02040503050406030204" pitchFamily="18" charset="0"/>
              </a:rPr>
              <a:t>To help users track trip expenses and budgets for better financial planning.</a:t>
            </a:r>
          </a:p>
          <a:p>
            <a:r>
              <a:rPr lang="en-US" dirty="0">
                <a:latin typeface="Cambria" panose="02040503050406030204" pitchFamily="18" charset="0"/>
                <a:ea typeface="Cambria" panose="02040503050406030204" pitchFamily="18" charset="0"/>
              </a:rPr>
              <a:t>To improve traveler safety by providing emergency contact and SOS support.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75872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6123F-FB5E-A734-95E0-DA77F8110626}"/>
              </a:ext>
            </a:extLst>
          </p:cNvPr>
          <p:cNvSpPr>
            <a:spLocks noGrp="1"/>
          </p:cNvSpPr>
          <p:nvPr>
            <p:ph type="title"/>
          </p:nvPr>
        </p:nvSpPr>
        <p:spPr>
          <a:xfrm>
            <a:off x="881626" y="761999"/>
            <a:ext cx="10668000" cy="89156"/>
          </a:xfrm>
        </p:spPr>
        <p:txBody>
          <a:bodyPr/>
          <a:lstStyle/>
          <a:p>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32CE0626-FDF3-CF95-40BF-A991FC273C5A}"/>
              </a:ext>
            </a:extLst>
          </p:cNvPr>
          <p:cNvSpPr>
            <a:spLocks noGrp="1"/>
          </p:cNvSpPr>
          <p:nvPr>
            <p:ph type="body" idx="1"/>
          </p:nvPr>
        </p:nvSpPr>
        <p:spPr/>
        <p:txBody>
          <a:bodyPr>
            <a:normAutofit/>
          </a:bodyPr>
          <a:lstStyle/>
          <a:p>
            <a:pPr marL="76200" indent="0">
              <a:buNone/>
            </a:pPr>
            <a:r>
              <a:rPr lang="en-US" sz="1800" dirty="0">
                <a:latin typeface="Cambria" panose="02040503050406030204" pitchFamily="18" charset="0"/>
                <a:ea typeface="Cambria" panose="02040503050406030204" pitchFamily="18" charset="0"/>
              </a:rPr>
              <a:t>The growth of tourism and travel in recent years has increased the use of mobile applications for planning and managing trips. However, most travelers still face difficulties in </a:t>
            </a:r>
            <a:r>
              <a:rPr lang="en-US" sz="1800" b="1" dirty="0">
                <a:latin typeface="Cambria" panose="02040503050406030204" pitchFamily="18" charset="0"/>
                <a:ea typeface="Cambria" panose="02040503050406030204" pitchFamily="18" charset="0"/>
              </a:rPr>
              <a:t>organizing trip-related information</a:t>
            </a:r>
            <a:r>
              <a:rPr lang="en-US" sz="1800" dirty="0">
                <a:latin typeface="Cambria" panose="02040503050406030204" pitchFamily="18" charset="0"/>
                <a:ea typeface="Cambria" panose="02040503050406030204" pitchFamily="18" charset="0"/>
              </a:rPr>
              <a:t> because critical data such as booking confirmations, travel documents, itineraries, expenses, and emergency details are usually stored in </a:t>
            </a:r>
            <a:r>
              <a:rPr lang="en-US" sz="1800" b="1" dirty="0">
                <a:latin typeface="Cambria" panose="02040503050406030204" pitchFamily="18" charset="0"/>
                <a:ea typeface="Cambria" panose="02040503050406030204" pitchFamily="18" charset="0"/>
              </a:rPr>
              <a:t>different platforms</a:t>
            </a:r>
            <a:r>
              <a:rPr lang="en-US" sz="1800" dirty="0">
                <a:latin typeface="Cambria" panose="02040503050406030204" pitchFamily="18" charset="0"/>
                <a:ea typeface="Cambria" panose="02040503050406030204" pitchFamily="18" charset="0"/>
              </a:rPr>
              <a:t> like emails, WhatsApp messages, screenshots, notes, and multiple apps.</a:t>
            </a:r>
          </a:p>
          <a:p>
            <a:pPr marL="76200" indent="0">
              <a:buNone/>
            </a:pPr>
            <a:endParaRPr lang="en-US" sz="1800" dirty="0">
              <a:latin typeface="Cambria" panose="02040503050406030204" pitchFamily="18" charset="0"/>
              <a:ea typeface="Cambria" panose="02040503050406030204" pitchFamily="18" charset="0"/>
            </a:endParaRPr>
          </a:p>
          <a:p>
            <a:pPr marL="76200" indent="0">
              <a:buNone/>
            </a:pPr>
            <a:r>
              <a:rPr lang="en-US" sz="1800" dirty="0">
                <a:latin typeface="Cambria" panose="02040503050406030204" pitchFamily="18" charset="0"/>
                <a:ea typeface="Cambria" panose="02040503050406030204" pitchFamily="18" charset="0"/>
              </a:rPr>
              <a:t>This scattered nature of information leads to:</a:t>
            </a:r>
          </a:p>
          <a:p>
            <a:r>
              <a:rPr lang="en-US" sz="1800" dirty="0">
                <a:latin typeface="Cambria" panose="02040503050406030204" pitchFamily="18" charset="0"/>
                <a:ea typeface="Cambria" panose="02040503050406030204" pitchFamily="18" charset="0"/>
              </a:rPr>
              <a:t>confusion during travel</a:t>
            </a:r>
          </a:p>
          <a:p>
            <a:r>
              <a:rPr lang="en-US" sz="1800" dirty="0">
                <a:latin typeface="Cambria" panose="02040503050406030204" pitchFamily="18" charset="0"/>
                <a:ea typeface="Cambria" panose="02040503050406030204" pitchFamily="18" charset="0"/>
              </a:rPr>
              <a:t>missed schedules (check-ins, travel timings)</a:t>
            </a:r>
          </a:p>
          <a:p>
            <a:r>
              <a:rPr lang="en-US" sz="1800" dirty="0">
                <a:latin typeface="Cambria" panose="02040503050406030204" pitchFamily="18" charset="0"/>
                <a:ea typeface="Cambria" panose="02040503050406030204" pitchFamily="18" charset="0"/>
              </a:rPr>
              <a:t>difficulty accessing details instantly</a:t>
            </a:r>
          </a:p>
          <a:p>
            <a:r>
              <a:rPr lang="en-US" sz="1800" dirty="0">
                <a:latin typeface="Cambria" panose="02040503050406030204" pitchFamily="18" charset="0"/>
                <a:ea typeface="Cambria" panose="02040503050406030204" pitchFamily="18" charset="0"/>
              </a:rPr>
              <a:t>problems in low-network/remote areas</a:t>
            </a:r>
          </a:p>
          <a:p>
            <a:r>
              <a:rPr lang="en-US" sz="1800" dirty="0">
                <a:latin typeface="Cambria" panose="02040503050406030204" pitchFamily="18" charset="0"/>
                <a:ea typeface="Cambria" panose="02040503050406030204" pitchFamily="18" charset="0"/>
              </a:rPr>
              <a:t>poor expense tracking and budgeting</a:t>
            </a:r>
          </a:p>
          <a:p>
            <a:r>
              <a:rPr lang="en-US" sz="1800" dirty="0">
                <a:latin typeface="Cambria" panose="02040503050406030204" pitchFamily="18" charset="0"/>
                <a:ea typeface="Cambria" panose="02040503050406030204" pitchFamily="18" charset="0"/>
              </a:rPr>
              <a:t>Therefore, there is a strong need for a </a:t>
            </a:r>
            <a:r>
              <a:rPr lang="en-US" sz="1800" b="1" dirty="0">
                <a:latin typeface="Cambria" panose="02040503050406030204" pitchFamily="18" charset="0"/>
                <a:ea typeface="Cambria" panose="02040503050406030204" pitchFamily="18" charset="0"/>
              </a:rPr>
              <a:t>single integrated mobile application</a:t>
            </a:r>
            <a:r>
              <a:rPr lang="en-US" sz="1800" dirty="0">
                <a:latin typeface="Cambria" panose="02040503050406030204" pitchFamily="18" charset="0"/>
                <a:ea typeface="Cambria" panose="02040503050406030204" pitchFamily="18" charset="0"/>
              </a:rPr>
              <a:t> that can capture, store, and assist users with all trip-related details</a:t>
            </a:r>
            <a:r>
              <a:rPr lang="en-US" sz="1800" dirty="0"/>
              <a:t>.</a:t>
            </a:r>
          </a:p>
          <a:p>
            <a:pPr marL="76200" indent="0">
              <a:buNone/>
            </a:pPr>
            <a:endParaRPr lang="en-IN"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11603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76200" indent="0">
              <a:buNone/>
            </a:pPr>
            <a:endParaRPr lang="en-US" dirty="0">
              <a:latin typeface="Cambria" panose="02040503050406030204" pitchFamily="18" charset="0"/>
              <a:ea typeface="Cambria" panose="02040503050406030204" pitchFamily="18" charset="0"/>
            </a:endParaRPr>
          </a:p>
          <a:p>
            <a:pPr marL="76200" indent="0">
              <a:buNone/>
            </a:pPr>
            <a:r>
              <a:rPr lang="en-IN" sz="1800" b="1" dirty="0">
                <a:latin typeface="Cambria" panose="02040503050406030204" pitchFamily="18" charset="0"/>
                <a:ea typeface="Cambria" panose="02040503050406030204" pitchFamily="18" charset="0"/>
              </a:rPr>
              <a:t>Mobile Application (Frontend)</a:t>
            </a:r>
          </a:p>
          <a:p>
            <a:r>
              <a:rPr lang="en-IN" sz="1800" dirty="0">
                <a:latin typeface="Cambria" panose="02040503050406030204" pitchFamily="18" charset="0"/>
                <a:ea typeface="Cambria" panose="02040503050406030204" pitchFamily="18" charset="0"/>
              </a:rPr>
              <a:t>Android Studio</a:t>
            </a:r>
          </a:p>
          <a:p>
            <a:r>
              <a:rPr lang="en-IN" sz="1800" dirty="0">
                <a:latin typeface="Cambria" panose="02040503050406030204" pitchFamily="18" charset="0"/>
                <a:ea typeface="Cambria" panose="02040503050406030204" pitchFamily="18" charset="0"/>
              </a:rPr>
              <a:t>Language: Java</a:t>
            </a:r>
          </a:p>
          <a:p>
            <a:r>
              <a:rPr lang="en-IN" sz="1800" dirty="0">
                <a:latin typeface="Cambria" panose="02040503050406030204" pitchFamily="18" charset="0"/>
                <a:ea typeface="Cambria" panose="02040503050406030204" pitchFamily="18" charset="0"/>
              </a:rPr>
              <a:t>UI: XML Layouts + Material Design Components</a:t>
            </a:r>
          </a:p>
          <a:p>
            <a:pPr marL="76200" indent="0">
              <a:buNone/>
            </a:pPr>
            <a:endParaRPr lang="en-IN" sz="1800" dirty="0">
              <a:latin typeface="Cambria" panose="02040503050406030204" pitchFamily="18" charset="0"/>
              <a:ea typeface="Cambria" panose="02040503050406030204" pitchFamily="18" charset="0"/>
            </a:endParaRPr>
          </a:p>
          <a:p>
            <a:pPr marL="76200" indent="0">
              <a:buNone/>
            </a:pPr>
            <a:r>
              <a:rPr lang="en-IN" sz="1800" b="1" dirty="0">
                <a:latin typeface="Cambria" panose="02040503050406030204" pitchFamily="18" charset="0"/>
                <a:ea typeface="Cambria" panose="02040503050406030204" pitchFamily="18" charset="0"/>
              </a:rPr>
              <a:t>Backend / API</a:t>
            </a:r>
          </a:p>
          <a:p>
            <a:r>
              <a:rPr lang="en-IN" sz="1800" dirty="0">
                <a:latin typeface="Cambria" panose="02040503050406030204" pitchFamily="18" charset="0"/>
                <a:ea typeface="Cambria" panose="02040503050406030204" pitchFamily="18" charset="0"/>
              </a:rPr>
              <a:t>Spring Boot (Java) / Node.js (Express)</a:t>
            </a:r>
          </a:p>
          <a:p>
            <a:r>
              <a:rPr lang="en-IN" sz="1800" dirty="0">
                <a:latin typeface="Cambria" panose="02040503050406030204" pitchFamily="18" charset="0"/>
                <a:ea typeface="Cambria" panose="02040503050406030204" pitchFamily="18" charset="0"/>
              </a:rPr>
              <a:t>REST APIs</a:t>
            </a:r>
          </a:p>
          <a:p>
            <a:pPr marL="76200" indent="0">
              <a:buNone/>
            </a:pPr>
            <a:endParaRPr lang="en-IN" dirty="0"/>
          </a:p>
          <a:p>
            <a:pPr marL="76200" indent="0">
              <a:buNone/>
            </a:pPr>
            <a:r>
              <a:rPr lang="en-IN" sz="1800" b="1" dirty="0">
                <a:latin typeface="Cambria" panose="02040503050406030204" pitchFamily="18" charset="0"/>
                <a:ea typeface="Cambria" panose="02040503050406030204" pitchFamily="18" charset="0"/>
              </a:rPr>
              <a:t>Database</a:t>
            </a:r>
          </a:p>
          <a:p>
            <a:r>
              <a:rPr lang="en-IN" sz="1800" dirty="0">
                <a:latin typeface="Cambria" panose="02040503050406030204" pitchFamily="18" charset="0"/>
                <a:ea typeface="Cambria" panose="02040503050406030204" pitchFamily="18" charset="0"/>
              </a:rPr>
              <a:t>Firebase Firestore</a:t>
            </a: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pPr marL="76200" indent="0">
              <a:buNone/>
            </a:pPr>
            <a:endParaRPr lang="en-IN" sz="1800" dirty="0">
              <a:latin typeface="Cambria" panose="02040503050406030204" pitchFamily="18" charset="0"/>
              <a:ea typeface="Cambria" panose="02040503050406030204" pitchFamily="18" charset="0"/>
            </a:endParaRPr>
          </a:p>
          <a:p>
            <a:pPr marL="76200" indent="0">
              <a:buNone/>
            </a:pPr>
            <a:r>
              <a:rPr lang="en-IN" sz="1800" dirty="0">
                <a:latin typeface="Cambria" panose="02040503050406030204" pitchFamily="18" charset="0"/>
                <a:ea typeface="Cambria" panose="02040503050406030204" pitchFamily="18" charset="0"/>
              </a:rPr>
              <a:t>Software Requirements</a:t>
            </a:r>
          </a:p>
          <a:p>
            <a:pPr marL="76200" indent="0">
              <a:buNone/>
            </a:pPr>
            <a:endParaRPr lang="en-IN" sz="1800" dirty="0">
              <a:latin typeface="Cambria" panose="02040503050406030204" pitchFamily="18" charset="0"/>
              <a:ea typeface="Cambria" panose="02040503050406030204" pitchFamily="18" charset="0"/>
            </a:endParaRPr>
          </a:p>
          <a:p>
            <a:r>
              <a:rPr lang="en-IN" sz="1800" dirty="0">
                <a:latin typeface="Cambria" panose="02040503050406030204" pitchFamily="18" charset="0"/>
                <a:ea typeface="Cambria" panose="02040503050406030204" pitchFamily="18" charset="0"/>
              </a:rPr>
              <a:t>Android Studio</a:t>
            </a:r>
          </a:p>
          <a:p>
            <a:r>
              <a:rPr lang="en-IN" sz="1800" dirty="0">
                <a:latin typeface="Cambria" panose="02040503050406030204" pitchFamily="18" charset="0"/>
                <a:ea typeface="Cambria" panose="02040503050406030204" pitchFamily="18" charset="0"/>
              </a:rPr>
              <a:t>Java / Kotlin</a:t>
            </a:r>
          </a:p>
          <a:p>
            <a:r>
              <a:rPr lang="en-IN" sz="1800" dirty="0">
                <a:latin typeface="Cambria" panose="02040503050406030204" pitchFamily="18" charset="0"/>
                <a:ea typeface="Cambria" panose="02040503050406030204" pitchFamily="18" charset="0"/>
              </a:rPr>
              <a:t>Git &amp; GitHub</a:t>
            </a:r>
          </a:p>
          <a:p>
            <a:r>
              <a:rPr lang="en-IN" sz="1800" dirty="0">
                <a:latin typeface="Cambria" panose="02040503050406030204" pitchFamily="18" charset="0"/>
                <a:ea typeface="Cambria" panose="02040503050406030204" pitchFamily="18" charset="0"/>
              </a:rPr>
              <a:t>Postman (API testing)</a:t>
            </a:r>
          </a:p>
          <a:p>
            <a:r>
              <a:rPr lang="en-IN" sz="1800" dirty="0">
                <a:latin typeface="Cambria" panose="02040503050406030204" pitchFamily="18" charset="0"/>
                <a:ea typeface="Cambria" panose="02040503050406030204" pitchFamily="18" charset="0"/>
              </a:rPr>
              <a:t>Google Maps API</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73FAC5C3-AA4E-0915-F0AD-3D22D5D8C4F1}"/>
              </a:ext>
            </a:extLst>
          </p:cNvPr>
          <p:cNvSpPr txBox="1"/>
          <p:nvPr/>
        </p:nvSpPr>
        <p:spPr>
          <a:xfrm>
            <a:off x="5102944" y="2298680"/>
            <a:ext cx="7747818" cy="3693319"/>
          </a:xfrm>
          <a:prstGeom prst="rect">
            <a:avLst/>
          </a:prstGeom>
          <a:noFill/>
        </p:spPr>
        <p:txBody>
          <a:bodyPr wrap="square" rtlCol="0">
            <a:spAutoFit/>
          </a:bodyPr>
          <a:lstStyle/>
          <a:p>
            <a:r>
              <a:rPr lang="en-IN" sz="1800" dirty="0">
                <a:latin typeface="Cambria" panose="02040503050406030204" pitchFamily="18" charset="0"/>
                <a:ea typeface="Cambria" panose="02040503050406030204" pitchFamily="18" charset="0"/>
                <a:cs typeface="Calibri" panose="020F0502020204030204" pitchFamily="34" charset="0"/>
              </a:rPr>
              <a:t>Hardware Requirements</a:t>
            </a:r>
          </a:p>
          <a:p>
            <a:endParaRPr lang="en-IN" sz="1800" dirty="0">
              <a:latin typeface="Cambria" panose="02040503050406030204" pitchFamily="18" charset="0"/>
              <a:ea typeface="Cambria" panose="02040503050406030204" pitchFamily="18" charset="0"/>
              <a:cs typeface="Calibri" panose="020F0502020204030204" pitchFamily="34" charset="0"/>
            </a:endParaRPr>
          </a:p>
          <a:p>
            <a:r>
              <a:rPr lang="en-IN" sz="1800" dirty="0">
                <a:latin typeface="Cambria" panose="02040503050406030204" pitchFamily="18" charset="0"/>
                <a:ea typeface="Cambria" panose="02040503050406030204" pitchFamily="18" charset="0"/>
                <a:cs typeface="Calibri" panose="020F0502020204030204" pitchFamily="34" charset="0"/>
              </a:rPr>
              <a:t>For Development</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cs typeface="Calibri" panose="020F0502020204030204" pitchFamily="34" charset="0"/>
              </a:rPr>
              <a:t>Laptop / PC</a:t>
            </a:r>
          </a:p>
          <a:p>
            <a:pPr marL="285750" lvl="1" indent="-285750">
              <a:buFont typeface="Arial" panose="020B0604020202020204" pitchFamily="34" charset="0"/>
              <a:buChar char="•"/>
            </a:pPr>
            <a:r>
              <a:rPr lang="en-IN" sz="1800" dirty="0">
                <a:latin typeface="Cambria" panose="02040503050406030204" pitchFamily="18" charset="0"/>
                <a:ea typeface="Cambria" panose="02040503050406030204" pitchFamily="18" charset="0"/>
                <a:cs typeface="Calibri" panose="020F0502020204030204" pitchFamily="34" charset="0"/>
              </a:rPr>
              <a:t>Minimum: 8GB RAM, i5 Processor (or equivalent)</a:t>
            </a:r>
          </a:p>
          <a:p>
            <a:pPr marL="285750" lvl="1" indent="-285750">
              <a:buFont typeface="Arial" panose="020B0604020202020204" pitchFamily="34" charset="0"/>
              <a:buChar char="•"/>
            </a:pPr>
            <a:r>
              <a:rPr lang="en-IN" sz="1800" dirty="0">
                <a:latin typeface="Cambria" panose="02040503050406030204" pitchFamily="18" charset="0"/>
                <a:ea typeface="Cambria" panose="02040503050406030204" pitchFamily="18" charset="0"/>
                <a:cs typeface="Calibri" panose="020F0502020204030204" pitchFamily="34" charset="0"/>
              </a:rPr>
              <a:t>Recommended: 16GB RAM for smooth Android Studio performance</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cs typeface="Calibri" panose="020F0502020204030204" pitchFamily="34" charset="0"/>
              </a:rPr>
              <a:t>Stable Internet connection</a:t>
            </a:r>
          </a:p>
          <a:p>
            <a:endParaRPr lang="en-IN" sz="1800" dirty="0">
              <a:latin typeface="Cambria" panose="02040503050406030204" pitchFamily="18" charset="0"/>
              <a:ea typeface="Cambria" panose="02040503050406030204" pitchFamily="18" charset="0"/>
              <a:cs typeface="Calibri" panose="020F0502020204030204" pitchFamily="34" charset="0"/>
            </a:endParaRPr>
          </a:p>
          <a:p>
            <a:r>
              <a:rPr lang="en-IN" sz="1800" dirty="0">
                <a:latin typeface="Cambria" panose="02040503050406030204" pitchFamily="18" charset="0"/>
                <a:ea typeface="Cambria" panose="02040503050406030204" pitchFamily="18" charset="0"/>
                <a:cs typeface="Calibri" panose="020F0502020204030204" pitchFamily="34" charset="0"/>
              </a:rPr>
              <a:t>For User (Mobile App)</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cs typeface="Calibri" panose="020F0502020204030204" pitchFamily="34" charset="0"/>
              </a:rPr>
              <a:t>Android smartphone</a:t>
            </a:r>
          </a:p>
          <a:p>
            <a:pPr marL="285750" lvl="1" indent="-285750">
              <a:buFont typeface="Arial" panose="020B0604020202020204" pitchFamily="34" charset="0"/>
              <a:buChar char="•"/>
            </a:pPr>
            <a:r>
              <a:rPr lang="en-IN" sz="1800" dirty="0">
                <a:latin typeface="Cambria" panose="02040503050406030204" pitchFamily="18" charset="0"/>
                <a:ea typeface="Cambria" panose="02040503050406030204" pitchFamily="18" charset="0"/>
                <a:cs typeface="Calibri" panose="020F0502020204030204" pitchFamily="34" charset="0"/>
              </a:rPr>
              <a:t>Android 8.0+ (Oreo and above)</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cs typeface="Calibri" panose="020F0502020204030204" pitchFamily="34" charset="0"/>
              </a:rPr>
              <a:t>GPS support (for location services)</a:t>
            </a:r>
          </a:p>
          <a:p>
            <a:pPr marL="285750" indent="-285750">
              <a:buFont typeface="Arial" panose="020B0604020202020204" pitchFamily="34" charset="0"/>
              <a:buChar char="•"/>
            </a:pPr>
            <a:r>
              <a:rPr lang="en-IN" sz="1800" dirty="0">
                <a:latin typeface="Cambria" panose="02040503050406030204" pitchFamily="18" charset="0"/>
                <a:ea typeface="Cambria" panose="02040503050406030204" pitchFamily="18" charset="0"/>
                <a:cs typeface="Calibri" panose="020F0502020204030204" pitchFamily="34" charset="0"/>
              </a:rPr>
              <a:t>Camera access (for document capture)</a:t>
            </a: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r>
              <a:rPr lang="en-US" sz="1800" b="1" dirty="0">
                <a:latin typeface="Cambria" panose="02040503050406030204" pitchFamily="18" charset="0"/>
                <a:ea typeface="Cambria" panose="02040503050406030204" pitchFamily="18" charset="0"/>
              </a:rPr>
              <a:t>Key Challenges</a:t>
            </a:r>
          </a:p>
          <a:p>
            <a:pPr marL="76200" indent="0">
              <a:buNone/>
            </a:pPr>
            <a:endParaRPr lang="en-US" sz="1800" b="1"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Trip details are scattered across multiple apps (emails, chats, screenshots).</a:t>
            </a:r>
          </a:p>
          <a:p>
            <a:r>
              <a:rPr lang="en-US" sz="1800" dirty="0">
                <a:latin typeface="Cambria" panose="02040503050406030204" pitchFamily="18" charset="0"/>
                <a:ea typeface="Cambria" panose="02040503050406030204" pitchFamily="18" charset="0"/>
              </a:rPr>
              <a:t>Users face difficulty retrieving tickets, hotel details, and itinerary quickly.</a:t>
            </a:r>
          </a:p>
          <a:p>
            <a:r>
              <a:rPr lang="en-US" sz="1800" dirty="0">
                <a:latin typeface="Cambria" panose="02040503050406030204" pitchFamily="18" charset="0"/>
                <a:ea typeface="Cambria" panose="02040503050406030204" pitchFamily="18" charset="0"/>
              </a:rPr>
              <a:t>Lack of offline availability in low-network areas.</a:t>
            </a:r>
          </a:p>
          <a:p>
            <a:r>
              <a:rPr lang="en-US" sz="1800" dirty="0">
                <a:latin typeface="Cambria" panose="02040503050406030204" pitchFamily="18" charset="0"/>
                <a:ea typeface="Cambria" panose="02040503050406030204" pitchFamily="18" charset="0"/>
              </a:rPr>
              <a:t>No centralized system for trip budget &amp; expense tracking.</a:t>
            </a:r>
          </a:p>
          <a:p>
            <a:r>
              <a:rPr lang="en-US" sz="1800" dirty="0">
                <a:latin typeface="Cambria" panose="02040503050406030204" pitchFamily="18" charset="0"/>
                <a:ea typeface="Cambria" panose="02040503050406030204" pitchFamily="18" charset="0"/>
              </a:rPr>
              <a:t>Need for travel reminders and safety assistance</a:t>
            </a:r>
            <a:r>
              <a:rPr lang="en-US" sz="1800" dirty="0"/>
              <a: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8739732-095A-23B2-21BE-FAA2066CB05B}"/>
              </a:ext>
            </a:extLst>
          </p:cNvPr>
          <p:cNvPicPr>
            <a:picLocks noChangeAspect="1"/>
          </p:cNvPicPr>
          <p:nvPr/>
        </p:nvPicPr>
        <p:blipFill>
          <a:blip r:embed="rId3"/>
          <a:stretch>
            <a:fillRect/>
          </a:stretch>
        </p:blipFill>
        <p:spPr>
          <a:xfrm>
            <a:off x="1838633" y="1730840"/>
            <a:ext cx="7440561" cy="3730615"/>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t>[1] C. Wang, Z. Li, and J. Wang, “Smart Tourism: Foundations and Developments,” </a:t>
            </a:r>
            <a:r>
              <a:rPr lang="en-US" i="1" dirty="0"/>
              <a:t>Electronic Markets</a:t>
            </a:r>
            <a:r>
              <a:rPr lang="en-US" dirty="0"/>
              <a:t>, vol. 30, no. 3, pp. 401–404, 2020.</a:t>
            </a: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t>[2] X. Y. Zheng, K. H. Lim, and J. Yang, “Mobile Travel Applications and Their Impact on Tourist Experience: A Review,” </a:t>
            </a:r>
            <a:r>
              <a:rPr lang="en-US" i="1" dirty="0"/>
              <a:t>Tourism Management Perspectives</a:t>
            </a:r>
            <a:r>
              <a:rPr lang="en-US" dirty="0"/>
              <a:t>, vol. 35, pp. 100–110, 2020.</a:t>
            </a: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t>[3] M. </a:t>
            </a:r>
            <a:r>
              <a:rPr lang="en-US" dirty="0" err="1"/>
              <a:t>Tussyadiah</a:t>
            </a:r>
            <a:r>
              <a:rPr lang="en-US" dirty="0"/>
              <a:t> and D. Wang, “Tourists’ Adoption of Mobile Applications: Motivation, Satisfaction and Behavioral Intention,” </a:t>
            </a:r>
            <a:r>
              <a:rPr lang="en-US" i="1" dirty="0"/>
              <a:t>Journal of Travel Research</a:t>
            </a:r>
            <a:r>
              <a:rPr lang="en-US" dirty="0"/>
              <a:t>, vol. 55, no. 8, pp. 1–14, 2016.</a:t>
            </a: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TotalTime>
  <Words>834</Words>
  <Application>Microsoft Office PowerPoint</Application>
  <PresentationFormat>Widescreen</PresentationFormat>
  <Paragraphs>120</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Bookman Old Style</vt:lpstr>
      <vt:lpstr>Calibri</vt:lpstr>
      <vt:lpstr>Cambria</vt:lpstr>
      <vt:lpstr>Verdana</vt:lpstr>
      <vt:lpstr>Wingdings</vt:lpstr>
      <vt:lpstr>Bioinformatics</vt:lpstr>
      <vt:lpstr>JourneyBox – Smart Travel Companion App</vt:lpstr>
      <vt:lpstr>Content</vt:lpstr>
      <vt:lpstr>Problem Statement Number: SIH25082</vt:lpstr>
      <vt:lpstr>Objectives</vt:lpstr>
      <vt:lpstr>Background and Related work for title Selection </vt:lpstr>
      <vt:lpstr>Analysis of Problem Statement</vt:lpstr>
      <vt:lpstr>Analysis of Problem Statement (contd...)</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vinaystark833@gmail.com</cp:lastModifiedBy>
  <cp:revision>41</cp:revision>
  <dcterms:modified xsi:type="dcterms:W3CDTF">2026-01-14T02:53:59Z</dcterms:modified>
</cp:coreProperties>
</file>